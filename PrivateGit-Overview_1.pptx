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d4b3f51d-e9fb-a83c-40a0-52693b900ba2}">
          <p14:sldIdLst>
            <p14:sldId id="256"/>
            <p14:sldId id="257"/>
          </p14:sldIdLst>
        </p14:section>
        <p14:section name="System" id="{8fe04059-bed3-4973-eff5-1f8230e69eed}">
          <p14:sldIdLst>
            <p14:sldId id="258"/>
            <p14:sldId id="259"/>
            <p14:sldId id="260"/>
            <p14:sldId id="261"/>
          </p14:sldIdLst>
        </p14:section>
        <p14:section name="Value" id="{ca18b834-d8d6-4ffc-ce98-fd3452c25943}">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same project exists as many folder copies on different servers, so we spend time finding the latest version and figuring out what changed. The proposal is PrivateGit: a private, GitHub-like Git server that runs only on our own server .126 and is reached over SSH. Everyone shares one repository with the full history. The next slides cover the pain points, the architecture and how we work with it day to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we see today. First, scattered copies: nobody is sure which folder is the latest. Second, time lost searching: to know who changed what and why, we ask people and compare files manually. Third, overwritten work when folders are copied over each other. Fourth, there is no access control and no history to roll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only two ways in. The terminal path uses Git over SSH on port 22: each person has their own SSH key, which tells the server who they are, and a small gate checks whether that person may read or write that repository before Git runs. The browser path uses HTTPS on port 443 through nginx to a dashboard where people view code, history and changes, and the admin manages access. Both paths use the same permission list. Everything is stored on .126, including a hidden backup of every main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.126 holds the main codebase: the single source of truth. Users on .157, .158 and on .126 itself each keep their own working copy, push their changes to main and pull everyone else's. Nobody copies folders between machines any more. Each person has read or read-and-write permission per repository, and main cannot be deleted or overwritten; every change to it is backed up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application, taken from a test installation of the same software. One: the admin creates the repository in the dashboard and gives users A and B read and write access. Two: user A on .157 clones the empty repository, commits the first code and pushes it to .126. Three: user B on .158 clones it, fixes a bug and pushes. Four: user A simply runs git pull and receives B's change. Nobody copied folders; every change went through main on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we keep track of other people's work. On the left is the real history of main in the dashboard: each commit shows its message, author and time. Clicking Bob's commit opens the page on the right: the exact lines he changed, red removed and green added, with line numbers. The same information is available in the terminal with git log and git show. Who, when, what and why are answered in seconds instead of asking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We get one source of truth on .126 instead of folder copies, full traceability of every change, and fast answers to who changed what. Git merges work instead of overwriting it, main is protected, and access is controlled per user and per repository. It is secure and fully on-premise, with an automatic backup of main. Overall: less time searching and reconciling, quick onboarding, and every change recoverable.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4"/>
                </a:solidFill>
              </a:rPr>
              <a:t>PrivateGit · on-premise Git server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PrivateGit: one home for our code</a:t>
            </a:r>
            <a:endParaRPr lang="en-US" sz="3000" dirty="0"/>
          </a:p>
        </p:txBody>
      </p:sp>
      <p:sp>
        <p:nvSpPr>
          <p:cNvPr id="3" name="text-1"/>
          <p:cNvSpPr txBox="1"/>
          <p:nvPr/>
        </p:nvSpPr>
        <p:spPr>
          <a:xfrm>
            <a:off x="457200" y="1143000"/>
            <a:ext cx="4206240" cy="3291840"/>
          </a:xfrm>
          <a:prstGeom prst="rect">
            <a:avLst/>
          </a:prstGeom>
          <a:noFill/>
          <a:ln/>
        </p:spPr>
        <p:txBody>
          <a:bodyPr wrap="square" lIns="0" tIns="0" rIns="0" bIns="0" rtlCol="0" anchor="t"/>
          <a:lstStyle/>
          <a:p>
            <a:pPr algn="l" indent="0" marL="0">
              <a:spcAft>
                <a:spcPts val="1400"/>
              </a:spcAft>
              <a:buNone/>
            </a:pPr>
            <a:r>
              <a:rPr lang="en-US" sz="1600" dirty="0">
                <a:solidFill>
                  <a:schemeClr val="tx1"/>
                </a:solidFill>
              </a:rPr>
              <a:t>Today our code lives in many copies across servers and folders, so finding a change and understanding it takes time.</a:t>
            </a:r>
            <a:endParaRPr lang="en-US" sz="1600" dirty="0"/>
          </a:p>
          <a:p>
            <a:pPr algn="l" indent="0" marL="0">
              <a:spcAft>
                <a:spcPts val="1400"/>
              </a:spcAft>
              <a:buNone/>
            </a:pPr>
            <a:r>
              <a:rPr lang="en-US" sz="1600" b="1" dirty="0">
                <a:solidFill>
                  <a:schemeClr val="tx2"/>
                </a:solidFill>
              </a:rPr>
              <a:t>This proposal: a local, SSH-based, on-premise Git server (a private "GitHub") for sharing and tracking code.</a:t>
            </a:r>
            <a:endParaRPr lang="en-US" sz="1600" dirty="0"/>
          </a:p>
          <a:p>
            <a:pPr algn="l" indent="0" marL="0">
              <a:spcAft>
                <a:spcPts val="1400"/>
              </a:spcAft>
              <a:buNone/>
            </a:pPr>
            <a:r>
              <a:rPr lang="en-US" sz="1600" dirty="0">
                <a:solidFill>
                  <a:schemeClr val="tx1"/>
                </a:solidFill>
              </a:rPr>
              <a:t>It runs on our own server 172.20.1.126. Nothing goes to the cloud.</a:t>
            </a:r>
            <a:endParaRPr lang="en-US" sz="1600" dirty="0"/>
          </a:p>
          <a:p>
            <a:pPr algn="l" indent="0" marL="0">
              <a:spcAft>
                <a:spcPts val="1400"/>
              </a:spcAft>
              <a:buNone/>
            </a:pPr>
            <a:r>
              <a:rPr lang="en-US" sz="1600" dirty="0">
                <a:solidFill>
                  <a:schemeClr val="accent4"/>
                </a:solidFill>
              </a:rPr>
              <a:t>The next slides explain the pain points, the architecture and the daily workflow.</a:t>
            </a:r>
            <a:endParaRPr lang="en-US" sz="1600" dirty="0"/>
          </a:p>
        </p:txBody>
      </p:sp>
      <p:sp>
        <p:nvSpPr>
          <p:cNvPr id="4" name="folder-2"/>
          <p:cNvSpPr/>
          <p:nvPr/>
        </p:nvSpPr>
        <p:spPr>
          <a:xfrm>
            <a:off x="5074920" y="1188720"/>
            <a:ext cx="1783080" cy="420624"/>
          </a:xfrm>
          <a:prstGeom prst="roundRect">
            <a:avLst>
              <a:gd name="adj" fmla="val 17391"/>
            </a:avLst>
          </a:prstGeom>
          <a:solidFill>
            <a:schemeClr val="bg2"/>
          </a:solidFill>
          <a:ln w="12700">
            <a:solidFill>
              <a:schemeClr val="accent5"/>
            </a:solidFill>
            <a:prstDash val="solid"/>
          </a:ln>
        </p:spPr>
      </p:sp>
      <p:sp>
        <p:nvSpPr>
          <p:cNvPr id="5" name="text-3"/>
          <p:cNvSpPr txBox="1"/>
          <p:nvPr/>
        </p:nvSpPr>
        <p:spPr>
          <a:xfrm>
            <a:off x="5184648" y="1188720"/>
            <a:ext cx="1645920" cy="420624"/>
          </a:xfrm>
          <a:prstGeom prst="rect">
            <a:avLst/>
          </a:prstGeom>
          <a:noFill/>
          <a:ln/>
        </p:spPr>
        <p:txBody>
          <a:bodyPr wrap="square" lIns="0" tIns="0" rIns="0" bIns="0" rtlCol="0" anchor="ctr"/>
          <a:lstStyle/>
          <a:p>
            <a:pPr algn="l" indent="0" marL="0">
              <a:buNone/>
            </a:pPr>
            <a:r>
              <a:rPr lang="en-US" sz="1200" dirty="0">
                <a:solidFill>
                  <a:schemeClr val="tx1"/>
                </a:solidFill>
                <a:latin typeface="Courier New" pitchFamily="34" charset="0"/>
                <a:ea typeface="Courier New" pitchFamily="34" charset="-122"/>
                <a:cs typeface="Courier New" pitchFamily="34" charset="-120"/>
              </a:rPr>
              <a:t>fpga_v2/</a:t>
            </a:r>
            <a:endParaRPr lang="en-US" sz="1200" dirty="0"/>
          </a:p>
        </p:txBody>
      </p:sp>
      <p:sp>
        <p:nvSpPr>
          <p:cNvPr id="6" name="folder-4"/>
          <p:cNvSpPr/>
          <p:nvPr/>
        </p:nvSpPr>
        <p:spPr>
          <a:xfrm>
            <a:off x="5239512" y="1755648"/>
            <a:ext cx="1783080" cy="420624"/>
          </a:xfrm>
          <a:prstGeom prst="roundRect">
            <a:avLst>
              <a:gd name="adj" fmla="val 17391"/>
            </a:avLst>
          </a:prstGeom>
          <a:solidFill>
            <a:schemeClr val="bg2"/>
          </a:solidFill>
          <a:ln w="12700">
            <a:solidFill>
              <a:schemeClr val="accent5"/>
            </a:solidFill>
            <a:prstDash val="solid"/>
          </a:ln>
        </p:spPr>
      </p:sp>
      <p:sp>
        <p:nvSpPr>
          <p:cNvPr id="7" name="text-5"/>
          <p:cNvSpPr txBox="1"/>
          <p:nvPr/>
        </p:nvSpPr>
        <p:spPr>
          <a:xfrm>
            <a:off x="5349240" y="1755648"/>
            <a:ext cx="1645920" cy="420624"/>
          </a:xfrm>
          <a:prstGeom prst="rect">
            <a:avLst/>
          </a:prstGeom>
          <a:noFill/>
          <a:ln/>
        </p:spPr>
        <p:txBody>
          <a:bodyPr wrap="square" lIns="0" tIns="0" rIns="0" bIns="0" rtlCol="0" anchor="ctr"/>
          <a:lstStyle/>
          <a:p>
            <a:pPr algn="l" indent="0" marL="0">
              <a:buNone/>
            </a:pPr>
            <a:r>
              <a:rPr lang="en-US" sz="1200" dirty="0">
                <a:solidFill>
                  <a:schemeClr val="tx1"/>
                </a:solidFill>
                <a:latin typeface="Courier New" pitchFamily="34" charset="0"/>
                <a:ea typeface="Courier New" pitchFamily="34" charset="-122"/>
                <a:cs typeface="Courier New" pitchFamily="34" charset="-120"/>
              </a:rPr>
              <a:t>fpga_v2_final/</a:t>
            </a:r>
            <a:endParaRPr lang="en-US" sz="1200" dirty="0"/>
          </a:p>
        </p:txBody>
      </p:sp>
      <p:sp>
        <p:nvSpPr>
          <p:cNvPr id="8" name="folder-6"/>
          <p:cNvSpPr/>
          <p:nvPr/>
        </p:nvSpPr>
        <p:spPr>
          <a:xfrm>
            <a:off x="5074920" y="2322576"/>
            <a:ext cx="1783080" cy="420624"/>
          </a:xfrm>
          <a:prstGeom prst="roundRect">
            <a:avLst>
              <a:gd name="adj" fmla="val 17391"/>
            </a:avLst>
          </a:prstGeom>
          <a:solidFill>
            <a:schemeClr val="bg2"/>
          </a:solidFill>
          <a:ln w="12700">
            <a:solidFill>
              <a:schemeClr val="accent5"/>
            </a:solidFill>
            <a:prstDash val="solid"/>
          </a:ln>
        </p:spPr>
      </p:sp>
      <p:sp>
        <p:nvSpPr>
          <p:cNvPr id="9" name="text-7"/>
          <p:cNvSpPr txBox="1"/>
          <p:nvPr/>
        </p:nvSpPr>
        <p:spPr>
          <a:xfrm>
            <a:off x="5184648" y="2322576"/>
            <a:ext cx="1645920" cy="420624"/>
          </a:xfrm>
          <a:prstGeom prst="rect">
            <a:avLst/>
          </a:prstGeom>
          <a:noFill/>
          <a:ln/>
        </p:spPr>
        <p:txBody>
          <a:bodyPr wrap="square" lIns="0" tIns="0" rIns="0" bIns="0" rtlCol="0" anchor="ctr"/>
          <a:lstStyle/>
          <a:p>
            <a:pPr algn="l" indent="0" marL="0">
              <a:buNone/>
            </a:pPr>
            <a:r>
              <a:rPr lang="en-US" sz="1200" dirty="0">
                <a:solidFill>
                  <a:schemeClr val="tx1"/>
                </a:solidFill>
                <a:latin typeface="Courier New" pitchFamily="34" charset="0"/>
                <a:ea typeface="Courier New" pitchFamily="34" charset="-122"/>
                <a:cs typeface="Courier New" pitchFamily="34" charset="-120"/>
              </a:rPr>
              <a:t>fpga_v2_final_NEW/</a:t>
            </a:r>
            <a:endParaRPr lang="en-US" sz="1200" dirty="0"/>
          </a:p>
        </p:txBody>
      </p:sp>
      <p:sp>
        <p:nvSpPr>
          <p:cNvPr id="10" name="folder-8"/>
          <p:cNvSpPr/>
          <p:nvPr/>
        </p:nvSpPr>
        <p:spPr>
          <a:xfrm>
            <a:off x="5239512" y="2889504"/>
            <a:ext cx="1783080" cy="420624"/>
          </a:xfrm>
          <a:prstGeom prst="roundRect">
            <a:avLst>
              <a:gd name="adj" fmla="val 17391"/>
            </a:avLst>
          </a:prstGeom>
          <a:solidFill>
            <a:schemeClr val="bg2"/>
          </a:solidFill>
          <a:ln w="12700">
            <a:solidFill>
              <a:schemeClr val="accent5"/>
            </a:solidFill>
            <a:prstDash val="solid"/>
          </a:ln>
        </p:spPr>
      </p:sp>
      <p:sp>
        <p:nvSpPr>
          <p:cNvPr id="11" name="text-9"/>
          <p:cNvSpPr txBox="1"/>
          <p:nvPr/>
        </p:nvSpPr>
        <p:spPr>
          <a:xfrm>
            <a:off x="5349240" y="2889504"/>
            <a:ext cx="1645920" cy="420624"/>
          </a:xfrm>
          <a:prstGeom prst="rect">
            <a:avLst/>
          </a:prstGeom>
          <a:noFill/>
          <a:ln/>
        </p:spPr>
        <p:txBody>
          <a:bodyPr wrap="square" lIns="0" tIns="0" rIns="0" bIns="0" rtlCol="0" anchor="ctr"/>
          <a:lstStyle/>
          <a:p>
            <a:pPr algn="l" indent="0" marL="0">
              <a:buNone/>
            </a:pPr>
            <a:r>
              <a:rPr lang="en-US" sz="1200" dirty="0">
                <a:solidFill>
                  <a:schemeClr val="tx1"/>
                </a:solidFill>
                <a:latin typeface="Courier New" pitchFamily="34" charset="0"/>
                <a:ea typeface="Courier New" pitchFamily="34" charset="-122"/>
                <a:cs typeface="Courier New" pitchFamily="34" charset="-120"/>
              </a:rPr>
              <a:t>copy_of_fpga (2)/</a:t>
            </a:r>
            <a:endParaRPr lang="en-US" sz="1200" dirty="0"/>
          </a:p>
        </p:txBody>
      </p:sp>
      <p:sp>
        <p:nvSpPr>
          <p:cNvPr id="12" name="text-10"/>
          <p:cNvSpPr txBox="1"/>
          <p:nvPr/>
        </p:nvSpPr>
        <p:spPr>
          <a:xfrm>
            <a:off x="5074920" y="3520440"/>
            <a:ext cx="1920240" cy="274320"/>
          </a:xfrm>
          <a:prstGeom prst="rect">
            <a:avLst/>
          </a:prstGeom>
          <a:noFill/>
          <a:ln/>
        </p:spPr>
        <p:txBody>
          <a:bodyPr wrap="square" lIns="0" tIns="0" rIns="0" bIns="0" rtlCol="0" anchor="t"/>
          <a:lstStyle/>
          <a:p>
            <a:pPr algn="l" indent="0" marL="0">
              <a:buNone/>
            </a:pPr>
            <a:r>
              <a:rPr lang="en-US" sz="1200" i="1" dirty="0">
                <a:solidFill>
                  <a:schemeClr val="accent4"/>
                </a:solidFill>
              </a:rPr>
              <a:t>scattered copies</a:t>
            </a:r>
            <a:endParaRPr lang="en-US" sz="1200" dirty="0"/>
          </a:p>
        </p:txBody>
      </p:sp>
      <p:sp>
        <p:nvSpPr>
          <p:cNvPr id="13" name="arrow-11"/>
          <p:cNvSpPr/>
          <p:nvPr/>
        </p:nvSpPr>
        <p:spPr>
          <a:xfrm>
            <a:off x="7178040" y="2240280"/>
            <a:ext cx="411480" cy="0"/>
          </a:xfrm>
          <a:prstGeom prst="line">
            <a:avLst/>
          </a:prstGeom>
          <a:noFill/>
          <a:ln w="38100">
            <a:solidFill>
              <a:schemeClr val="accent2"/>
            </a:solidFill>
            <a:prstDash val="solid"/>
            <a:tailEnd type="triangle"/>
          </a:ln>
        </p:spPr>
      </p:sp>
      <p:sp>
        <p:nvSpPr>
          <p:cNvPr id="14" name="server-12"/>
          <p:cNvSpPr/>
          <p:nvPr/>
        </p:nvSpPr>
        <p:spPr>
          <a:xfrm>
            <a:off x="7680960" y="1417320"/>
            <a:ext cx="1005840" cy="1737360"/>
          </a:xfrm>
          <a:prstGeom prst="roundRect">
            <a:avLst>
              <a:gd name="adj" fmla="val 7273"/>
            </a:avLst>
          </a:prstGeom>
          <a:solidFill>
            <a:schemeClr val="accent1"/>
          </a:solidFill>
          <a:ln w="12700">
            <a:solidFill>
              <a:schemeClr val="accent1"/>
            </a:solidFill>
            <a:prstDash val="solid"/>
          </a:ln>
        </p:spPr>
      </p:sp>
      <p:sp>
        <p:nvSpPr>
          <p:cNvPr id="15" name="text-13"/>
          <p:cNvSpPr txBox="1"/>
          <p:nvPr/>
        </p:nvSpPr>
        <p:spPr>
          <a:xfrm>
            <a:off x="7726680" y="1463040"/>
            <a:ext cx="914400" cy="1645920"/>
          </a:xfrm>
          <a:prstGeom prst="rect">
            <a:avLst/>
          </a:prstGeom>
          <a:noFill/>
          <a:ln/>
        </p:spPr>
        <p:txBody>
          <a:bodyPr wrap="square" lIns="0" tIns="0" rIns="0" bIns="0" rtlCol="0" anchor="ctr"/>
          <a:lstStyle/>
          <a:p>
            <a:pPr algn="ctr" indent="0" marL="0">
              <a:buNone/>
            </a:pPr>
            <a:r>
              <a:rPr lang="en-US" sz="1600" b="1" dirty="0">
                <a:solidFill>
                  <a:schemeClr val="bg1"/>
                </a:solidFill>
              </a:rPr>
              <a:t>.126</a:t>
            </a:r>
            <a:endParaRPr lang="en-US" sz="1400" dirty="0"/>
          </a:p>
          <a:p>
            <a:pPr algn="ctr" indent="0" marL="0">
              <a:buNone/>
            </a:pPr>
            <a:r>
              <a:rPr lang="en-US" sz="1100" dirty="0">
                <a:solidFill>
                  <a:schemeClr val="bg1"/>
                </a:solidFill>
              </a:rPr>
              <a:t>one repository</a:t>
            </a:r>
            <a:endParaRPr lang="en-US" sz="1400" dirty="0"/>
          </a:p>
          <a:p>
            <a:pPr algn="ctr" indent="0" marL="0">
              <a:buNone/>
            </a:pPr>
            <a:r>
              <a:rPr lang="en-US" sz="1100" dirty="0">
                <a:solidFill>
                  <a:schemeClr val="bg1"/>
                </a:solidFill>
              </a:rPr>
              <a:t>full history</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Pain points today</a:t>
            </a:r>
            <a:endParaRPr lang="en-US" sz="3000" dirty="0"/>
          </a:p>
        </p:txBody>
      </p:sp>
      <p:sp>
        <p:nvSpPr>
          <p:cNvPr id="3" name="pain-card-14"/>
          <p:cNvSpPr/>
          <p:nvPr/>
        </p:nvSpPr>
        <p:spPr>
          <a:xfrm>
            <a:off x="457200" y="1143000"/>
            <a:ext cx="4023360" cy="1508760"/>
          </a:xfrm>
          <a:prstGeom prst="roundRect">
            <a:avLst>
              <a:gd name="adj" fmla="val 4848"/>
            </a:avLst>
          </a:prstGeom>
          <a:solidFill>
            <a:schemeClr val="bg2"/>
          </a:solidFill>
          <a:ln w="12700">
            <a:solidFill>
              <a:schemeClr val="bg2"/>
            </a:solidFill>
            <a:prstDash val="solid"/>
          </a:ln>
        </p:spPr>
      </p:sp>
      <p:sp>
        <p:nvSpPr>
          <p:cNvPr id="4" name="badge-15"/>
          <p:cNvSpPr/>
          <p:nvPr/>
        </p:nvSpPr>
        <p:spPr>
          <a:xfrm>
            <a:off x="685800" y="1371600"/>
            <a:ext cx="384048" cy="384048"/>
          </a:xfrm>
          <a:prstGeom prst="ellipse">
            <a:avLst/>
          </a:prstGeom>
          <a:solidFill>
            <a:schemeClr val="accent2"/>
          </a:solidFill>
          <a:ln w="12700">
            <a:solidFill>
              <a:schemeClr val="accent2"/>
            </a:solidFill>
            <a:prstDash val="solid"/>
          </a:ln>
        </p:spPr>
      </p:sp>
      <p:sp>
        <p:nvSpPr>
          <p:cNvPr id="5" name="text-16"/>
          <p:cNvSpPr txBox="1"/>
          <p:nvPr/>
        </p:nvSpPr>
        <p:spPr>
          <a:xfrm>
            <a:off x="685800" y="1371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17"/>
          <p:cNvSpPr txBox="1"/>
          <p:nvPr/>
        </p:nvSpPr>
        <p:spPr>
          <a:xfrm>
            <a:off x="1234440" y="1344168"/>
            <a:ext cx="3108960" cy="411480"/>
          </a:xfrm>
          <a:prstGeom prst="rect">
            <a:avLst/>
          </a:prstGeom>
          <a:noFill/>
          <a:ln/>
        </p:spPr>
        <p:txBody>
          <a:bodyPr wrap="square" lIns="0" tIns="0" rIns="0" bIns="0" rtlCol="0" anchor="ctr"/>
          <a:lstStyle/>
          <a:p>
            <a:pPr algn="l" indent="0" marL="0">
              <a:buNone/>
            </a:pPr>
            <a:r>
              <a:rPr lang="en-US" sz="1800" b="1" dirty="0">
                <a:solidFill>
                  <a:schemeClr val="tx2"/>
                </a:solidFill>
              </a:rPr>
              <a:t>Scattered copies</a:t>
            </a:r>
            <a:endParaRPr lang="en-US" sz="1800" dirty="0"/>
          </a:p>
        </p:txBody>
      </p:sp>
      <p:sp>
        <p:nvSpPr>
          <p:cNvPr id="7" name="text-18"/>
          <p:cNvSpPr txBox="1"/>
          <p:nvPr/>
        </p:nvSpPr>
        <p:spPr>
          <a:xfrm>
            <a:off x="1234440" y="1801368"/>
            <a:ext cx="3063240" cy="777240"/>
          </a:xfrm>
          <a:prstGeom prst="rect">
            <a:avLst/>
          </a:prstGeom>
          <a:noFill/>
          <a:ln/>
        </p:spPr>
        <p:txBody>
          <a:bodyPr wrap="square" lIns="0" tIns="0" rIns="0" bIns="0" rtlCol="0" anchor="t"/>
          <a:lstStyle/>
          <a:p>
            <a:pPr algn="l" indent="0" marL="0">
              <a:buNone/>
            </a:pPr>
            <a:r>
              <a:rPr lang="en-US" sz="1400" dirty="0">
                <a:solidFill>
                  <a:schemeClr val="tx1"/>
                </a:solidFill>
              </a:rPr>
              <a:t>The same project sits in many folders and servers. Nobody is sure which one is the latest.</a:t>
            </a:r>
            <a:endParaRPr lang="en-US" sz="1400" dirty="0"/>
          </a:p>
        </p:txBody>
      </p:sp>
      <p:sp>
        <p:nvSpPr>
          <p:cNvPr id="8" name="pain-card-19"/>
          <p:cNvSpPr/>
          <p:nvPr/>
        </p:nvSpPr>
        <p:spPr>
          <a:xfrm>
            <a:off x="4663440" y="1143000"/>
            <a:ext cx="4023360" cy="1508760"/>
          </a:xfrm>
          <a:prstGeom prst="roundRect">
            <a:avLst>
              <a:gd name="adj" fmla="val 4848"/>
            </a:avLst>
          </a:prstGeom>
          <a:solidFill>
            <a:schemeClr val="bg2"/>
          </a:solidFill>
          <a:ln w="12700">
            <a:solidFill>
              <a:schemeClr val="bg2"/>
            </a:solidFill>
            <a:prstDash val="solid"/>
          </a:ln>
        </p:spPr>
      </p:sp>
      <p:sp>
        <p:nvSpPr>
          <p:cNvPr id="9" name="badge-20"/>
          <p:cNvSpPr/>
          <p:nvPr/>
        </p:nvSpPr>
        <p:spPr>
          <a:xfrm>
            <a:off x="4892040" y="1371600"/>
            <a:ext cx="384048" cy="384048"/>
          </a:xfrm>
          <a:prstGeom prst="ellipse">
            <a:avLst/>
          </a:prstGeom>
          <a:solidFill>
            <a:schemeClr val="accent2"/>
          </a:solidFill>
          <a:ln w="12700">
            <a:solidFill>
              <a:schemeClr val="accent2"/>
            </a:solidFill>
            <a:prstDash val="solid"/>
          </a:ln>
        </p:spPr>
      </p:sp>
      <p:sp>
        <p:nvSpPr>
          <p:cNvPr id="10" name="text-21"/>
          <p:cNvSpPr txBox="1"/>
          <p:nvPr/>
        </p:nvSpPr>
        <p:spPr>
          <a:xfrm>
            <a:off x="4892040" y="1371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22"/>
          <p:cNvSpPr txBox="1"/>
          <p:nvPr/>
        </p:nvSpPr>
        <p:spPr>
          <a:xfrm>
            <a:off x="5440680" y="1344168"/>
            <a:ext cx="3108960" cy="411480"/>
          </a:xfrm>
          <a:prstGeom prst="rect">
            <a:avLst/>
          </a:prstGeom>
          <a:noFill/>
          <a:ln/>
        </p:spPr>
        <p:txBody>
          <a:bodyPr wrap="square" lIns="0" tIns="0" rIns="0" bIns="0" rtlCol="0" anchor="ctr"/>
          <a:lstStyle/>
          <a:p>
            <a:pPr algn="l" indent="0" marL="0">
              <a:buNone/>
            </a:pPr>
            <a:r>
              <a:rPr lang="en-US" sz="1800" b="1" dirty="0">
                <a:solidFill>
                  <a:schemeClr val="tx2"/>
                </a:solidFill>
              </a:rPr>
              <a:t>Time lost searching</a:t>
            </a:r>
            <a:endParaRPr lang="en-US" sz="1800" dirty="0"/>
          </a:p>
        </p:txBody>
      </p:sp>
      <p:sp>
        <p:nvSpPr>
          <p:cNvPr id="12" name="text-23"/>
          <p:cNvSpPr txBox="1"/>
          <p:nvPr/>
        </p:nvSpPr>
        <p:spPr>
          <a:xfrm>
            <a:off x="5440680" y="1801368"/>
            <a:ext cx="3063240" cy="777240"/>
          </a:xfrm>
          <a:prstGeom prst="rect">
            <a:avLst/>
          </a:prstGeom>
          <a:noFill/>
          <a:ln/>
        </p:spPr>
        <p:txBody>
          <a:bodyPr wrap="square" lIns="0" tIns="0" rIns="0" bIns="0" rtlCol="0" anchor="t"/>
          <a:lstStyle/>
          <a:p>
            <a:pPr algn="l" indent="0" marL="0">
              <a:buNone/>
            </a:pPr>
            <a:r>
              <a:rPr lang="en-US" sz="1400" dirty="0">
                <a:solidFill>
                  <a:schemeClr val="tx1"/>
                </a:solidFill>
              </a:rPr>
              <a:t>Who changed what, when and why? Finding out means asking people and comparing files by hand.</a:t>
            </a:r>
            <a:endParaRPr lang="en-US" sz="1400" dirty="0"/>
          </a:p>
        </p:txBody>
      </p:sp>
      <p:sp>
        <p:nvSpPr>
          <p:cNvPr id="13" name="pain-card-24"/>
          <p:cNvSpPr/>
          <p:nvPr/>
        </p:nvSpPr>
        <p:spPr>
          <a:xfrm>
            <a:off x="457200" y="2880360"/>
            <a:ext cx="4023360" cy="1508760"/>
          </a:xfrm>
          <a:prstGeom prst="roundRect">
            <a:avLst>
              <a:gd name="adj" fmla="val 4848"/>
            </a:avLst>
          </a:prstGeom>
          <a:solidFill>
            <a:schemeClr val="bg2"/>
          </a:solidFill>
          <a:ln w="12700">
            <a:solidFill>
              <a:schemeClr val="bg2"/>
            </a:solidFill>
            <a:prstDash val="solid"/>
          </a:ln>
        </p:spPr>
      </p:sp>
      <p:sp>
        <p:nvSpPr>
          <p:cNvPr id="14" name="badge-25"/>
          <p:cNvSpPr/>
          <p:nvPr/>
        </p:nvSpPr>
        <p:spPr>
          <a:xfrm>
            <a:off x="685800" y="3108960"/>
            <a:ext cx="384048" cy="384048"/>
          </a:xfrm>
          <a:prstGeom prst="ellipse">
            <a:avLst/>
          </a:prstGeom>
          <a:solidFill>
            <a:schemeClr val="accent2"/>
          </a:solidFill>
          <a:ln w="12700">
            <a:solidFill>
              <a:schemeClr val="accent2"/>
            </a:solidFill>
            <a:prstDash val="solid"/>
          </a:ln>
        </p:spPr>
      </p:sp>
      <p:sp>
        <p:nvSpPr>
          <p:cNvPr id="15" name="text-26"/>
          <p:cNvSpPr txBox="1"/>
          <p:nvPr/>
        </p:nvSpPr>
        <p:spPr>
          <a:xfrm>
            <a:off x="685800" y="31089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27"/>
          <p:cNvSpPr txBox="1"/>
          <p:nvPr/>
        </p:nvSpPr>
        <p:spPr>
          <a:xfrm>
            <a:off x="1234440" y="3081528"/>
            <a:ext cx="3108960" cy="411480"/>
          </a:xfrm>
          <a:prstGeom prst="rect">
            <a:avLst/>
          </a:prstGeom>
          <a:noFill/>
          <a:ln/>
        </p:spPr>
        <p:txBody>
          <a:bodyPr wrap="square" lIns="0" tIns="0" rIns="0" bIns="0" rtlCol="0" anchor="ctr"/>
          <a:lstStyle/>
          <a:p>
            <a:pPr algn="l" indent="0" marL="0">
              <a:buNone/>
            </a:pPr>
            <a:r>
              <a:rPr lang="en-US" sz="1800" b="1" dirty="0">
                <a:solidFill>
                  <a:schemeClr val="tx2"/>
                </a:solidFill>
              </a:rPr>
              <a:t>Overwritten work</a:t>
            </a:r>
            <a:endParaRPr lang="en-US" sz="1800" dirty="0"/>
          </a:p>
        </p:txBody>
      </p:sp>
      <p:sp>
        <p:nvSpPr>
          <p:cNvPr id="17" name="text-28"/>
          <p:cNvSpPr txBox="1"/>
          <p:nvPr/>
        </p:nvSpPr>
        <p:spPr>
          <a:xfrm>
            <a:off x="1234440" y="3538728"/>
            <a:ext cx="3063240" cy="777240"/>
          </a:xfrm>
          <a:prstGeom prst="rect">
            <a:avLst/>
          </a:prstGeom>
          <a:noFill/>
          <a:ln/>
        </p:spPr>
        <p:txBody>
          <a:bodyPr wrap="square" lIns="0" tIns="0" rIns="0" bIns="0" rtlCol="0" anchor="t"/>
          <a:lstStyle/>
          <a:p>
            <a:pPr algn="l" indent="0" marL="0">
              <a:buNone/>
            </a:pPr>
            <a:r>
              <a:rPr lang="en-US" sz="1400" dirty="0">
                <a:solidFill>
                  <a:schemeClr val="tx1"/>
                </a:solidFill>
              </a:rPr>
              <a:t>Copying folders over each other silently loses someone's changes.</a:t>
            </a:r>
            <a:endParaRPr lang="en-US" sz="1400" dirty="0"/>
          </a:p>
        </p:txBody>
      </p:sp>
      <p:sp>
        <p:nvSpPr>
          <p:cNvPr id="18" name="pain-card-29"/>
          <p:cNvSpPr/>
          <p:nvPr/>
        </p:nvSpPr>
        <p:spPr>
          <a:xfrm>
            <a:off x="4663440" y="2880360"/>
            <a:ext cx="4023360" cy="1508760"/>
          </a:xfrm>
          <a:prstGeom prst="roundRect">
            <a:avLst>
              <a:gd name="adj" fmla="val 4848"/>
            </a:avLst>
          </a:prstGeom>
          <a:solidFill>
            <a:schemeClr val="bg2"/>
          </a:solidFill>
          <a:ln w="12700">
            <a:solidFill>
              <a:schemeClr val="bg2"/>
            </a:solidFill>
            <a:prstDash val="solid"/>
          </a:ln>
        </p:spPr>
      </p:sp>
      <p:sp>
        <p:nvSpPr>
          <p:cNvPr id="19" name="badge-30"/>
          <p:cNvSpPr/>
          <p:nvPr/>
        </p:nvSpPr>
        <p:spPr>
          <a:xfrm>
            <a:off x="4892040" y="3108960"/>
            <a:ext cx="384048" cy="384048"/>
          </a:xfrm>
          <a:prstGeom prst="ellipse">
            <a:avLst/>
          </a:prstGeom>
          <a:solidFill>
            <a:schemeClr val="accent2"/>
          </a:solidFill>
          <a:ln w="12700">
            <a:solidFill>
              <a:schemeClr val="accent2"/>
            </a:solidFill>
            <a:prstDash val="solid"/>
          </a:ln>
        </p:spPr>
      </p:sp>
      <p:sp>
        <p:nvSpPr>
          <p:cNvPr id="20" name="text-31"/>
          <p:cNvSpPr txBox="1"/>
          <p:nvPr/>
        </p:nvSpPr>
        <p:spPr>
          <a:xfrm>
            <a:off x="4892040" y="31089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32"/>
          <p:cNvSpPr txBox="1"/>
          <p:nvPr/>
        </p:nvSpPr>
        <p:spPr>
          <a:xfrm>
            <a:off x="5440680" y="3081528"/>
            <a:ext cx="3108960" cy="411480"/>
          </a:xfrm>
          <a:prstGeom prst="rect">
            <a:avLst/>
          </a:prstGeom>
          <a:noFill/>
          <a:ln/>
        </p:spPr>
        <p:txBody>
          <a:bodyPr wrap="square" lIns="0" tIns="0" rIns="0" bIns="0" rtlCol="0" anchor="ctr"/>
          <a:lstStyle/>
          <a:p>
            <a:pPr algn="l" indent="0" marL="0">
              <a:buNone/>
            </a:pPr>
            <a:r>
              <a:rPr lang="en-US" sz="1800" b="1" dirty="0">
                <a:solidFill>
                  <a:schemeClr val="tx2"/>
                </a:solidFill>
              </a:rPr>
              <a:t>No control, no safety net</a:t>
            </a:r>
            <a:endParaRPr lang="en-US" sz="1800" dirty="0"/>
          </a:p>
        </p:txBody>
      </p:sp>
      <p:sp>
        <p:nvSpPr>
          <p:cNvPr id="22" name="text-33"/>
          <p:cNvSpPr txBox="1"/>
          <p:nvPr/>
        </p:nvSpPr>
        <p:spPr>
          <a:xfrm>
            <a:off x="5440680" y="3538728"/>
            <a:ext cx="3063240" cy="777240"/>
          </a:xfrm>
          <a:prstGeom prst="rect">
            <a:avLst/>
          </a:prstGeom>
          <a:noFill/>
          <a:ln/>
        </p:spPr>
        <p:txBody>
          <a:bodyPr wrap="square" lIns="0" tIns="0" rIns="0" bIns="0" rtlCol="0" anchor="t"/>
          <a:lstStyle/>
          <a:p>
            <a:pPr algn="l" indent="0" marL="0">
              <a:buNone/>
            </a:pPr>
            <a:r>
              <a:rPr lang="en-US" sz="1400" dirty="0">
                <a:solidFill>
                  <a:schemeClr val="tx1"/>
                </a:solidFill>
              </a:rPr>
              <a:t>Anyone can read or change everything, and there is no history to roll back to.</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Architecture: two simple paths into one server</a:t>
            </a:r>
            <a:endParaRPr lang="en-US" sz="3000" dirty="0"/>
          </a:p>
        </p:txBody>
      </p:sp>
      <p:sp>
        <p:nvSpPr>
          <p:cNvPr id="3" name="users-34"/>
          <p:cNvSpPr/>
          <p:nvPr/>
        </p:nvSpPr>
        <p:spPr>
          <a:xfrm>
            <a:off x="457200" y="1234440"/>
            <a:ext cx="1737360" cy="2240280"/>
          </a:xfrm>
          <a:prstGeom prst="roundRect">
            <a:avLst>
              <a:gd name="adj" fmla="val 4211"/>
            </a:avLst>
          </a:prstGeom>
          <a:solidFill>
            <a:schemeClr val="bg2"/>
          </a:solidFill>
          <a:ln w="12700">
            <a:solidFill>
              <a:schemeClr val="bg2"/>
            </a:solidFill>
            <a:prstDash val="solid"/>
          </a:ln>
        </p:spPr>
      </p:sp>
      <p:sp>
        <p:nvSpPr>
          <p:cNvPr id="4" name="text-35"/>
          <p:cNvSpPr txBox="1"/>
          <p:nvPr/>
        </p:nvSpPr>
        <p:spPr>
          <a:xfrm>
            <a:off x="594360" y="1371600"/>
            <a:ext cx="1508760" cy="2377440"/>
          </a:xfrm>
          <a:prstGeom prst="rect">
            <a:avLst/>
          </a:prstGeom>
          <a:noFill/>
          <a:ln/>
        </p:spPr>
        <p:txBody>
          <a:bodyPr wrap="square" lIns="0" tIns="0" rIns="0" bIns="0" rtlCol="0" anchor="t"/>
          <a:lstStyle/>
          <a:p>
            <a:pPr algn="l" indent="0" marL="0">
              <a:buNone/>
            </a:pPr>
            <a:r>
              <a:rPr lang="en-US" sz="1600" b="1" dirty="0">
                <a:solidFill>
                  <a:schemeClr val="tx2"/>
                </a:solidFill>
              </a:rPr>
              <a:t>Users</a:t>
            </a:r>
            <a:endParaRPr lang="en-US" sz="1400" dirty="0"/>
          </a:p>
          <a:p>
            <a:pPr algn="l" indent="0" marL="0">
              <a:buNone/>
            </a:pPr>
            <a:r>
              <a:rPr lang="en-US" sz="1200" dirty="0">
                <a:solidFill>
                  <a:schemeClr val="tx1"/>
                </a:solidFill>
              </a:rPr>
              <a:t>on .126, .157, .158</a:t>
            </a:r>
            <a:endParaRPr lang="en-US" sz="1400" dirty="0"/>
          </a:p>
          <a:p>
            <a:pPr algn="l" indent="0" marL="0">
              <a:buNone/>
            </a:pPr>
            <a:r>
              <a:rPr lang="en-US" sz="800" dirty="0">
                <a:solidFill>
                  <a:schemeClr val="tx1"/>
                </a:solidFill>
              </a:rPr>
              <a:t> </a:t>
            </a:r>
            <a:endParaRPr lang="en-US" sz="1400" dirty="0"/>
          </a:p>
          <a:p>
            <a:pPr algn="l" indent="0" marL="0">
              <a:buNone/>
            </a:pPr>
            <a:r>
              <a:rPr lang="en-US" sz="1300" dirty="0">
                <a:solidFill>
                  <a:schemeClr val="tx1"/>
                </a:solidFill>
              </a:rPr>
              <a:t>Terminal: git</a:t>
            </a:r>
            <a:endParaRPr lang="en-US" sz="1400" dirty="0"/>
          </a:p>
          <a:p>
            <a:pPr algn="l" indent="0" marL="0">
              <a:buNone/>
            </a:pPr>
            <a:r>
              <a:rPr lang="en-US" sz="1300" dirty="0">
                <a:solidFill>
                  <a:schemeClr val="tx1"/>
                </a:solidFill>
              </a:rPr>
              <a:t>Browser: dashboard</a:t>
            </a:r>
            <a:endParaRPr lang="en-US" sz="1400" dirty="0"/>
          </a:p>
        </p:txBody>
      </p:sp>
      <p:sp>
        <p:nvSpPr>
          <p:cNvPr id="5" name="arrow-36"/>
          <p:cNvSpPr/>
          <p:nvPr/>
        </p:nvSpPr>
        <p:spPr>
          <a:xfrm>
            <a:off x="2240280" y="1783080"/>
            <a:ext cx="1417320" cy="0"/>
          </a:xfrm>
          <a:prstGeom prst="line">
            <a:avLst/>
          </a:prstGeom>
          <a:noFill/>
          <a:ln w="31750">
            <a:solidFill>
              <a:schemeClr val="accent3"/>
            </a:solidFill>
            <a:prstDash val="solid"/>
            <a:tailEnd type="triangle"/>
          </a:ln>
        </p:spPr>
      </p:sp>
      <p:sp>
        <p:nvSpPr>
          <p:cNvPr id="6" name="text-37"/>
          <p:cNvSpPr txBox="1"/>
          <p:nvPr/>
        </p:nvSpPr>
        <p:spPr>
          <a:xfrm>
            <a:off x="2240280" y="1417320"/>
            <a:ext cx="1463040" cy="274320"/>
          </a:xfrm>
          <a:prstGeom prst="rect">
            <a:avLst/>
          </a:prstGeom>
          <a:noFill/>
          <a:ln/>
        </p:spPr>
        <p:txBody>
          <a:bodyPr wrap="square" lIns="0" tIns="0" rIns="0" bIns="0" rtlCol="0" anchor="t"/>
          <a:lstStyle/>
          <a:p>
            <a:pPr algn="l" indent="0" marL="0">
              <a:buNone/>
            </a:pPr>
            <a:r>
              <a:rPr lang="en-US" sz="1200" b="1" dirty="0">
                <a:solidFill>
                  <a:schemeClr val="accent3"/>
                </a:solidFill>
              </a:rPr>
              <a:t>HTTPS · port 443</a:t>
            </a:r>
            <a:endParaRPr lang="en-US" sz="1200" dirty="0"/>
          </a:p>
        </p:txBody>
      </p:sp>
      <p:sp>
        <p:nvSpPr>
          <p:cNvPr id="7" name="text-38"/>
          <p:cNvSpPr txBox="1"/>
          <p:nvPr/>
        </p:nvSpPr>
        <p:spPr>
          <a:xfrm>
            <a:off x="2240280" y="1847088"/>
            <a:ext cx="1463040" cy="274320"/>
          </a:xfrm>
          <a:prstGeom prst="rect">
            <a:avLst/>
          </a:prstGeom>
          <a:noFill/>
          <a:ln/>
        </p:spPr>
        <p:txBody>
          <a:bodyPr wrap="square" lIns="0" tIns="0" rIns="0" bIns="0" rtlCol="0" anchor="t"/>
          <a:lstStyle/>
          <a:p>
            <a:pPr algn="l" indent="0" marL="0">
              <a:buNone/>
            </a:pPr>
            <a:r>
              <a:rPr lang="en-US" sz="1100" dirty="0">
                <a:solidFill>
                  <a:schemeClr val="accent4"/>
                </a:solidFill>
              </a:rPr>
              <a:t>view code &amp; history</a:t>
            </a:r>
            <a:endParaRPr lang="en-US" sz="1100" dirty="0"/>
          </a:p>
        </p:txBody>
      </p:sp>
      <p:sp>
        <p:nvSpPr>
          <p:cNvPr id="8" name="arrow-39"/>
          <p:cNvSpPr/>
          <p:nvPr/>
        </p:nvSpPr>
        <p:spPr>
          <a:xfrm>
            <a:off x="2240280" y="2971800"/>
            <a:ext cx="1417320" cy="0"/>
          </a:xfrm>
          <a:prstGeom prst="line">
            <a:avLst/>
          </a:prstGeom>
          <a:noFill/>
          <a:ln w="31750">
            <a:solidFill>
              <a:schemeClr val="accent1"/>
            </a:solidFill>
            <a:prstDash val="solid"/>
            <a:headEnd type="triangle"/>
            <a:tailEnd type="triangle"/>
          </a:ln>
        </p:spPr>
      </p:sp>
      <p:sp>
        <p:nvSpPr>
          <p:cNvPr id="9" name="text-40"/>
          <p:cNvSpPr txBox="1"/>
          <p:nvPr/>
        </p:nvSpPr>
        <p:spPr>
          <a:xfrm>
            <a:off x="2240280" y="2606040"/>
            <a:ext cx="1463040" cy="274320"/>
          </a:xfrm>
          <a:prstGeom prst="rect">
            <a:avLst/>
          </a:prstGeom>
          <a:noFill/>
          <a:ln/>
        </p:spPr>
        <p:txBody>
          <a:bodyPr wrap="square" lIns="0" tIns="0" rIns="0" bIns="0" rtlCol="0" anchor="t"/>
          <a:lstStyle/>
          <a:p>
            <a:pPr algn="l" indent="0" marL="0">
              <a:buNone/>
            </a:pPr>
            <a:r>
              <a:rPr lang="en-US" sz="1200" b="1" dirty="0">
                <a:solidFill>
                  <a:schemeClr val="accent1"/>
                </a:solidFill>
              </a:rPr>
              <a:t>SSH · port 22</a:t>
            </a:r>
            <a:endParaRPr lang="en-US" sz="1200" dirty="0"/>
          </a:p>
        </p:txBody>
      </p:sp>
      <p:sp>
        <p:nvSpPr>
          <p:cNvPr id="10" name="text-41"/>
          <p:cNvSpPr txBox="1"/>
          <p:nvPr/>
        </p:nvSpPr>
        <p:spPr>
          <a:xfrm>
            <a:off x="2240280" y="3035808"/>
            <a:ext cx="1463040" cy="274320"/>
          </a:xfrm>
          <a:prstGeom prst="rect">
            <a:avLst/>
          </a:prstGeom>
          <a:noFill/>
          <a:ln/>
        </p:spPr>
        <p:txBody>
          <a:bodyPr wrap="square" lIns="0" tIns="0" rIns="0" bIns="0" rtlCol="0" anchor="t"/>
          <a:lstStyle/>
          <a:p>
            <a:pPr algn="l" indent="0" marL="0">
              <a:buNone/>
            </a:pPr>
            <a:r>
              <a:rPr lang="en-US" sz="1100" dirty="0">
                <a:solidFill>
                  <a:schemeClr val="accent4"/>
                </a:solidFill>
              </a:rPr>
              <a:t>clone / pull / push</a:t>
            </a:r>
            <a:endParaRPr lang="en-US" sz="1100" dirty="0"/>
          </a:p>
        </p:txBody>
      </p:sp>
      <p:sp>
        <p:nvSpPr>
          <p:cNvPr id="11" name="server-42"/>
          <p:cNvSpPr/>
          <p:nvPr/>
        </p:nvSpPr>
        <p:spPr>
          <a:xfrm>
            <a:off x="3749040" y="1097280"/>
            <a:ext cx="4937760" cy="2880360"/>
          </a:xfrm>
          <a:prstGeom prst="roundRect">
            <a:avLst>
              <a:gd name="adj" fmla="val 2540"/>
            </a:avLst>
          </a:prstGeom>
          <a:solidFill>
            <a:schemeClr val="bg1"/>
          </a:solidFill>
          <a:ln w="25400">
            <a:solidFill>
              <a:schemeClr val="accent1"/>
            </a:solidFill>
            <a:prstDash val="solid"/>
          </a:ln>
        </p:spPr>
      </p:sp>
      <p:sp>
        <p:nvSpPr>
          <p:cNvPr id="12" name="text-43"/>
          <p:cNvSpPr txBox="1"/>
          <p:nvPr/>
        </p:nvSpPr>
        <p:spPr>
          <a:xfrm>
            <a:off x="3886200" y="1143000"/>
            <a:ext cx="2743200" cy="320040"/>
          </a:xfrm>
          <a:prstGeom prst="rect">
            <a:avLst/>
          </a:prstGeom>
          <a:noFill/>
          <a:ln/>
        </p:spPr>
        <p:txBody>
          <a:bodyPr wrap="square" lIns="0" tIns="0" rIns="0" bIns="0" rtlCol="0" anchor="ctr"/>
          <a:lstStyle/>
          <a:p>
            <a:pPr algn="l" indent="0" marL="0">
              <a:buNone/>
            </a:pPr>
            <a:r>
              <a:rPr lang="en-US" sz="1400" b="1" dirty="0">
                <a:solidFill>
                  <a:schemeClr val="tx2"/>
                </a:solidFill>
              </a:rPr>
              <a:t>Server 172.20.1.126</a:t>
            </a:r>
            <a:endParaRPr lang="en-US" sz="1400" dirty="0"/>
          </a:p>
        </p:txBody>
      </p:sp>
      <p:sp>
        <p:nvSpPr>
          <p:cNvPr id="13" name="box-44"/>
          <p:cNvSpPr/>
          <p:nvPr/>
        </p:nvSpPr>
        <p:spPr>
          <a:xfrm>
            <a:off x="3931920" y="1463040"/>
            <a:ext cx="1325880" cy="658368"/>
          </a:xfrm>
          <a:prstGeom prst="roundRect">
            <a:avLst>
              <a:gd name="adj" fmla="val 11111"/>
            </a:avLst>
          </a:prstGeom>
          <a:solidFill>
            <a:schemeClr val="bg1"/>
          </a:solidFill>
          <a:ln w="19050">
            <a:solidFill>
              <a:schemeClr val="accent3"/>
            </a:solidFill>
            <a:prstDash val="solid"/>
          </a:ln>
        </p:spPr>
      </p:sp>
      <p:sp>
        <p:nvSpPr>
          <p:cNvPr id="14" name="text-45"/>
          <p:cNvSpPr txBox="1"/>
          <p:nvPr/>
        </p:nvSpPr>
        <p:spPr>
          <a:xfrm>
            <a:off x="3931920" y="1517904"/>
            <a:ext cx="1325880" cy="274320"/>
          </a:xfrm>
          <a:prstGeom prst="rect">
            <a:avLst/>
          </a:prstGeom>
          <a:noFill/>
          <a:ln/>
        </p:spPr>
        <p:txBody>
          <a:bodyPr wrap="square" lIns="0" tIns="0" rIns="0" bIns="0" rtlCol="0" anchor="t"/>
          <a:lstStyle/>
          <a:p>
            <a:pPr algn="ctr" indent="0" marL="0">
              <a:buNone/>
            </a:pPr>
            <a:r>
              <a:rPr lang="en-US" sz="1300" b="1" dirty="0">
                <a:solidFill>
                  <a:schemeClr val="accent3"/>
                </a:solidFill>
              </a:rPr>
              <a:t>nginx</a:t>
            </a:r>
            <a:endParaRPr lang="en-US" sz="1300" dirty="0"/>
          </a:p>
        </p:txBody>
      </p:sp>
      <p:sp>
        <p:nvSpPr>
          <p:cNvPr id="15" name="text-46"/>
          <p:cNvSpPr txBox="1"/>
          <p:nvPr/>
        </p:nvSpPr>
        <p:spPr>
          <a:xfrm>
            <a:off x="3931920" y="1801368"/>
            <a:ext cx="1325880" cy="274320"/>
          </a:xfrm>
          <a:prstGeom prst="rect">
            <a:avLst/>
          </a:prstGeom>
          <a:noFill/>
          <a:ln/>
        </p:spPr>
        <p:txBody>
          <a:bodyPr wrap="square" lIns="0" tIns="0" rIns="0" bIns="0" rtlCol="0" anchor="t"/>
          <a:lstStyle/>
          <a:p>
            <a:pPr algn="ctr" indent="0" marL="0">
              <a:buNone/>
            </a:pPr>
            <a:r>
              <a:rPr lang="en-US" sz="1050" dirty="0">
                <a:solidFill>
                  <a:schemeClr val="accent4"/>
                </a:solidFill>
              </a:rPr>
              <a:t>HTTPS, allowlist</a:t>
            </a:r>
            <a:endParaRPr lang="en-US" sz="1050" dirty="0"/>
          </a:p>
        </p:txBody>
      </p:sp>
      <p:sp>
        <p:nvSpPr>
          <p:cNvPr id="16" name="arrow-47"/>
          <p:cNvSpPr/>
          <p:nvPr/>
        </p:nvSpPr>
        <p:spPr>
          <a:xfrm>
            <a:off x="5285232" y="1792224"/>
            <a:ext cx="274320" cy="0"/>
          </a:xfrm>
          <a:prstGeom prst="line">
            <a:avLst/>
          </a:prstGeom>
          <a:noFill/>
          <a:ln w="25400">
            <a:solidFill>
              <a:schemeClr val="accent3"/>
            </a:solidFill>
            <a:prstDash val="solid"/>
            <a:tailEnd type="triangle"/>
          </a:ln>
        </p:spPr>
      </p:sp>
      <p:sp>
        <p:nvSpPr>
          <p:cNvPr id="17" name="box-48"/>
          <p:cNvSpPr/>
          <p:nvPr/>
        </p:nvSpPr>
        <p:spPr>
          <a:xfrm>
            <a:off x="5577840" y="1463040"/>
            <a:ext cx="1371600" cy="658368"/>
          </a:xfrm>
          <a:prstGeom prst="roundRect">
            <a:avLst>
              <a:gd name="adj" fmla="val 11111"/>
            </a:avLst>
          </a:prstGeom>
          <a:solidFill>
            <a:schemeClr val="bg1"/>
          </a:solidFill>
          <a:ln w="19050">
            <a:solidFill>
              <a:schemeClr val="accent3"/>
            </a:solidFill>
            <a:prstDash val="solid"/>
          </a:ln>
        </p:spPr>
      </p:sp>
      <p:sp>
        <p:nvSpPr>
          <p:cNvPr id="18" name="text-49"/>
          <p:cNvSpPr txBox="1"/>
          <p:nvPr/>
        </p:nvSpPr>
        <p:spPr>
          <a:xfrm>
            <a:off x="5577840" y="1517904"/>
            <a:ext cx="1371600" cy="274320"/>
          </a:xfrm>
          <a:prstGeom prst="rect">
            <a:avLst/>
          </a:prstGeom>
          <a:noFill/>
          <a:ln/>
        </p:spPr>
        <p:txBody>
          <a:bodyPr wrap="square" lIns="0" tIns="0" rIns="0" bIns="0" rtlCol="0" anchor="t"/>
          <a:lstStyle/>
          <a:p>
            <a:pPr algn="ctr" indent="0" marL="0">
              <a:buNone/>
            </a:pPr>
            <a:r>
              <a:rPr lang="en-US" sz="1300" b="1" dirty="0">
                <a:solidFill>
                  <a:schemeClr val="accent3"/>
                </a:solidFill>
              </a:rPr>
              <a:t>Dashboard</a:t>
            </a:r>
            <a:endParaRPr lang="en-US" sz="1300" dirty="0"/>
          </a:p>
        </p:txBody>
      </p:sp>
      <p:sp>
        <p:nvSpPr>
          <p:cNvPr id="19" name="text-50"/>
          <p:cNvSpPr txBox="1"/>
          <p:nvPr/>
        </p:nvSpPr>
        <p:spPr>
          <a:xfrm>
            <a:off x="5577840" y="1801368"/>
            <a:ext cx="1371600" cy="274320"/>
          </a:xfrm>
          <a:prstGeom prst="rect">
            <a:avLst/>
          </a:prstGeom>
          <a:noFill/>
          <a:ln/>
        </p:spPr>
        <p:txBody>
          <a:bodyPr wrap="square" lIns="0" tIns="0" rIns="0" bIns="0" rtlCol="0" anchor="t"/>
          <a:lstStyle/>
          <a:p>
            <a:pPr algn="ctr" indent="0" marL="0">
              <a:buNone/>
            </a:pPr>
            <a:r>
              <a:rPr lang="en-US" sz="1050" dirty="0">
                <a:solidFill>
                  <a:schemeClr val="accent4"/>
                </a:solidFill>
              </a:rPr>
              <a:t>login, browse</a:t>
            </a:r>
            <a:endParaRPr lang="en-US" sz="1050" dirty="0"/>
          </a:p>
        </p:txBody>
      </p:sp>
      <p:sp>
        <p:nvSpPr>
          <p:cNvPr id="20" name="arrow-51"/>
          <p:cNvSpPr/>
          <p:nvPr/>
        </p:nvSpPr>
        <p:spPr>
          <a:xfrm>
            <a:off x="6976872" y="1792224"/>
            <a:ext cx="228600" cy="0"/>
          </a:xfrm>
          <a:prstGeom prst="line">
            <a:avLst/>
          </a:prstGeom>
          <a:noFill/>
          <a:ln w="25400">
            <a:solidFill>
              <a:schemeClr val="accent3"/>
            </a:solidFill>
            <a:prstDash val="solid"/>
            <a:tailEnd type="triangle"/>
          </a:ln>
        </p:spPr>
      </p:sp>
      <p:sp>
        <p:nvSpPr>
          <p:cNvPr id="21" name="box-52"/>
          <p:cNvSpPr/>
          <p:nvPr/>
        </p:nvSpPr>
        <p:spPr>
          <a:xfrm>
            <a:off x="3931920" y="2651760"/>
            <a:ext cx="1325880" cy="658368"/>
          </a:xfrm>
          <a:prstGeom prst="roundRect">
            <a:avLst>
              <a:gd name="adj" fmla="val 11111"/>
            </a:avLst>
          </a:prstGeom>
          <a:solidFill>
            <a:schemeClr val="bg1"/>
          </a:solidFill>
          <a:ln w="19050">
            <a:solidFill>
              <a:schemeClr val="accent1"/>
            </a:solidFill>
            <a:prstDash val="solid"/>
          </a:ln>
        </p:spPr>
      </p:sp>
      <p:sp>
        <p:nvSpPr>
          <p:cNvPr id="22" name="text-53"/>
          <p:cNvSpPr txBox="1"/>
          <p:nvPr/>
        </p:nvSpPr>
        <p:spPr>
          <a:xfrm>
            <a:off x="3931920" y="2706624"/>
            <a:ext cx="1325880" cy="274320"/>
          </a:xfrm>
          <a:prstGeom prst="rect">
            <a:avLst/>
          </a:prstGeom>
          <a:noFill/>
          <a:ln/>
        </p:spPr>
        <p:txBody>
          <a:bodyPr wrap="square" lIns="0" tIns="0" rIns="0" bIns="0" rtlCol="0" anchor="t"/>
          <a:lstStyle/>
          <a:p>
            <a:pPr algn="ctr" indent="0" marL="0">
              <a:buNone/>
            </a:pPr>
            <a:r>
              <a:rPr lang="en-US" sz="1300" b="1" dirty="0">
                <a:solidFill>
                  <a:schemeClr val="accent1"/>
                </a:solidFill>
              </a:rPr>
              <a:t>OpenSSH</a:t>
            </a:r>
            <a:endParaRPr lang="en-US" sz="1300" dirty="0"/>
          </a:p>
        </p:txBody>
      </p:sp>
      <p:sp>
        <p:nvSpPr>
          <p:cNvPr id="23" name="text-54"/>
          <p:cNvSpPr txBox="1"/>
          <p:nvPr/>
        </p:nvSpPr>
        <p:spPr>
          <a:xfrm>
            <a:off x="3931920" y="2990088"/>
            <a:ext cx="1325880" cy="274320"/>
          </a:xfrm>
          <a:prstGeom prst="rect">
            <a:avLst/>
          </a:prstGeom>
          <a:noFill/>
          <a:ln/>
        </p:spPr>
        <p:txBody>
          <a:bodyPr wrap="square" lIns="0" tIns="0" rIns="0" bIns="0" rtlCol="0" anchor="t"/>
          <a:lstStyle/>
          <a:p>
            <a:pPr algn="ctr" indent="0" marL="0">
              <a:buNone/>
            </a:pPr>
            <a:r>
              <a:rPr lang="en-US" sz="1050" dirty="0">
                <a:solidFill>
                  <a:schemeClr val="accent4"/>
                </a:solidFill>
              </a:rPr>
              <a:t>key login</a:t>
            </a:r>
            <a:endParaRPr lang="en-US" sz="1050" dirty="0"/>
          </a:p>
        </p:txBody>
      </p:sp>
      <p:sp>
        <p:nvSpPr>
          <p:cNvPr id="24" name="arrow-55"/>
          <p:cNvSpPr/>
          <p:nvPr/>
        </p:nvSpPr>
        <p:spPr>
          <a:xfrm>
            <a:off x="5285232" y="2980944"/>
            <a:ext cx="274320" cy="0"/>
          </a:xfrm>
          <a:prstGeom prst="line">
            <a:avLst/>
          </a:prstGeom>
          <a:noFill/>
          <a:ln w="25400">
            <a:solidFill>
              <a:schemeClr val="accent1"/>
            </a:solidFill>
            <a:prstDash val="solid"/>
            <a:tailEnd type="triangle"/>
          </a:ln>
        </p:spPr>
      </p:sp>
      <p:sp>
        <p:nvSpPr>
          <p:cNvPr id="25" name="box-56"/>
          <p:cNvSpPr/>
          <p:nvPr/>
        </p:nvSpPr>
        <p:spPr>
          <a:xfrm>
            <a:off x="5577840" y="2651760"/>
            <a:ext cx="1371600" cy="658368"/>
          </a:xfrm>
          <a:prstGeom prst="roundRect">
            <a:avLst>
              <a:gd name="adj" fmla="val 11111"/>
            </a:avLst>
          </a:prstGeom>
          <a:solidFill>
            <a:schemeClr val="bg1"/>
          </a:solidFill>
          <a:ln w="19050">
            <a:solidFill>
              <a:schemeClr val="accent1"/>
            </a:solidFill>
            <a:prstDash val="solid"/>
          </a:ln>
        </p:spPr>
      </p:sp>
      <p:sp>
        <p:nvSpPr>
          <p:cNvPr id="26" name="text-57"/>
          <p:cNvSpPr txBox="1"/>
          <p:nvPr/>
        </p:nvSpPr>
        <p:spPr>
          <a:xfrm>
            <a:off x="5577840" y="2706624"/>
            <a:ext cx="1371600" cy="274320"/>
          </a:xfrm>
          <a:prstGeom prst="rect">
            <a:avLst/>
          </a:prstGeom>
          <a:noFill/>
          <a:ln/>
        </p:spPr>
        <p:txBody>
          <a:bodyPr wrap="square" lIns="0" tIns="0" rIns="0" bIns="0" rtlCol="0" anchor="t"/>
          <a:lstStyle/>
          <a:p>
            <a:pPr algn="ctr" indent="0" marL="0">
              <a:buNone/>
            </a:pPr>
            <a:r>
              <a:rPr lang="en-US" sz="1300" b="1" dirty="0">
                <a:solidFill>
                  <a:schemeClr val="accent1"/>
                </a:solidFill>
              </a:rPr>
              <a:t>Gate</a:t>
            </a:r>
            <a:endParaRPr lang="en-US" sz="1300" dirty="0"/>
          </a:p>
        </p:txBody>
      </p:sp>
      <p:sp>
        <p:nvSpPr>
          <p:cNvPr id="27" name="text-58"/>
          <p:cNvSpPr txBox="1"/>
          <p:nvPr/>
        </p:nvSpPr>
        <p:spPr>
          <a:xfrm>
            <a:off x="5577840" y="2990088"/>
            <a:ext cx="1371600" cy="274320"/>
          </a:xfrm>
          <a:prstGeom prst="rect">
            <a:avLst/>
          </a:prstGeom>
          <a:noFill/>
          <a:ln/>
        </p:spPr>
        <p:txBody>
          <a:bodyPr wrap="square" lIns="0" tIns="0" rIns="0" bIns="0" rtlCol="0" anchor="t"/>
          <a:lstStyle/>
          <a:p>
            <a:pPr algn="ctr" indent="0" marL="0">
              <a:buNone/>
            </a:pPr>
            <a:r>
              <a:rPr lang="en-US" sz="1050" dirty="0">
                <a:solidFill>
                  <a:schemeClr val="accent4"/>
                </a:solidFill>
              </a:rPr>
              <a:t>who? allowed?</a:t>
            </a:r>
            <a:endParaRPr lang="en-US" sz="1050" dirty="0"/>
          </a:p>
        </p:txBody>
      </p:sp>
      <p:sp>
        <p:nvSpPr>
          <p:cNvPr id="28" name="arrow-59"/>
          <p:cNvSpPr/>
          <p:nvPr/>
        </p:nvSpPr>
        <p:spPr>
          <a:xfrm>
            <a:off x="6976872" y="2980944"/>
            <a:ext cx="228600" cy="0"/>
          </a:xfrm>
          <a:prstGeom prst="line">
            <a:avLst/>
          </a:prstGeom>
          <a:noFill/>
          <a:ln w="25400">
            <a:solidFill>
              <a:schemeClr val="accent1"/>
            </a:solidFill>
            <a:prstDash val="solid"/>
            <a:tailEnd type="triangle"/>
          </a:ln>
        </p:spPr>
      </p:sp>
      <p:sp>
        <p:nvSpPr>
          <p:cNvPr id="29" name="storage-60"/>
          <p:cNvSpPr/>
          <p:nvPr/>
        </p:nvSpPr>
        <p:spPr>
          <a:xfrm>
            <a:off x="7223760" y="1463040"/>
            <a:ext cx="1325880" cy="1847088"/>
          </a:xfrm>
          <a:prstGeom prst="roundRect">
            <a:avLst>
              <a:gd name="adj" fmla="val 5517"/>
            </a:avLst>
          </a:prstGeom>
          <a:solidFill>
            <a:schemeClr val="bg2"/>
          </a:solidFill>
          <a:ln w="19050">
            <a:solidFill>
              <a:schemeClr val="accent1"/>
            </a:solidFill>
            <a:prstDash val="solid"/>
          </a:ln>
        </p:spPr>
      </p:sp>
      <p:sp>
        <p:nvSpPr>
          <p:cNvPr id="30" name="text-61"/>
          <p:cNvSpPr txBox="1"/>
          <p:nvPr/>
        </p:nvSpPr>
        <p:spPr>
          <a:xfrm>
            <a:off x="7269480" y="1536192"/>
            <a:ext cx="1234440" cy="1737360"/>
          </a:xfrm>
          <a:prstGeom prst="rect">
            <a:avLst/>
          </a:prstGeom>
          <a:noFill/>
          <a:ln/>
        </p:spPr>
        <p:txBody>
          <a:bodyPr wrap="square" lIns="0" tIns="0" rIns="0" bIns="0" rtlCol="0" anchor="ctr"/>
          <a:lstStyle/>
          <a:p>
            <a:pPr algn="ctr" indent="0" marL="0">
              <a:buNone/>
            </a:pPr>
            <a:r>
              <a:rPr lang="en-US" sz="1300" b="1" dirty="0">
                <a:solidFill>
                  <a:schemeClr val="tx2"/>
                </a:solidFill>
              </a:rPr>
              <a:t>Git</a:t>
            </a:r>
            <a:endParaRPr lang="en-US" sz="1400" dirty="0"/>
          </a:p>
          <a:p>
            <a:pPr algn="ctr" indent="0" marL="0">
              <a:buNone/>
            </a:pPr>
            <a:r>
              <a:rPr lang="en-US" sz="1300" b="1" dirty="0">
                <a:solidFill>
                  <a:schemeClr val="tx2"/>
                </a:solidFill>
              </a:rPr>
              <a:t>repositories</a:t>
            </a:r>
            <a:endParaRPr lang="en-US" sz="1400" dirty="0"/>
          </a:p>
          <a:p>
            <a:pPr algn="ctr" indent="0" marL="0">
              <a:buNone/>
            </a:pPr>
            <a:r>
              <a:rPr lang="en-US" sz="600" dirty="0">
                <a:solidFill>
                  <a:schemeClr val="tx2"/>
                </a:solidFill>
              </a:rPr>
              <a:t> </a:t>
            </a:r>
            <a:endParaRPr lang="en-US" sz="1400" dirty="0"/>
          </a:p>
          <a:p>
            <a:pPr algn="ctr" indent="0" marL="0">
              <a:buNone/>
            </a:pPr>
            <a:r>
              <a:rPr lang="en-US" sz="1100" dirty="0">
                <a:solidFill>
                  <a:schemeClr val="tx2"/>
                </a:solidFill>
              </a:rPr>
              <a:t>permissions</a:t>
            </a:r>
            <a:endParaRPr lang="en-US" sz="1400" dirty="0"/>
          </a:p>
          <a:p>
            <a:pPr algn="ctr" indent="0" marL="0">
              <a:buNone/>
            </a:pPr>
            <a:r>
              <a:rPr lang="en-US" sz="1100" dirty="0">
                <a:solidFill>
                  <a:schemeClr val="tx2"/>
                </a:solidFill>
              </a:rPr>
              <a:t>hidden backup of main</a:t>
            </a:r>
            <a:endParaRPr lang="en-US" sz="1400" dirty="0"/>
          </a:p>
        </p:txBody>
      </p:sp>
      <p:sp>
        <p:nvSpPr>
          <p:cNvPr id="31" name="text-62"/>
          <p:cNvSpPr txBox="1"/>
          <p:nvPr/>
        </p:nvSpPr>
        <p:spPr>
          <a:xfrm>
            <a:off x="3931920" y="3520440"/>
            <a:ext cx="4663440" cy="365760"/>
          </a:xfrm>
          <a:prstGeom prst="rect">
            <a:avLst/>
          </a:prstGeom>
          <a:noFill/>
          <a:ln/>
        </p:spPr>
        <p:txBody>
          <a:bodyPr wrap="square" lIns="0" tIns="0" rIns="0" bIns="0" rtlCol="0" anchor="ctr"/>
          <a:lstStyle/>
          <a:p>
            <a:pPr algn="l" indent="0" marL="0">
              <a:buNone/>
            </a:pPr>
            <a:r>
              <a:rPr lang="en-US" sz="1200" i="1" dirty="0">
                <a:solidFill>
                  <a:schemeClr val="accent4"/>
                </a:solidFill>
              </a:rPr>
              <a:t>One permission list for both paths: per user, per repository, Read or Read &amp; write.</a:t>
            </a:r>
            <a:endParaRPr lang="en-US" sz="1200" dirty="0"/>
          </a:p>
        </p:txBody>
      </p:sp>
      <p:sp>
        <p:nvSpPr>
          <p:cNvPr id="32" name="text-63"/>
          <p:cNvSpPr txBox="1"/>
          <p:nvPr/>
        </p:nvSpPr>
        <p:spPr>
          <a:xfrm>
            <a:off x="457200" y="4114800"/>
            <a:ext cx="8229600" cy="457200"/>
          </a:xfrm>
          <a:prstGeom prst="rect">
            <a:avLst/>
          </a:prstGeom>
          <a:noFill/>
          <a:ln/>
        </p:spPr>
        <p:txBody>
          <a:bodyPr wrap="square" lIns="0" tIns="0" rIns="0" bIns="0" rtlCol="0" anchor="t"/>
          <a:lstStyle/>
          <a:p>
            <a:pPr algn="l" indent="0" marL="0">
              <a:buNone/>
            </a:pPr>
            <a:r>
              <a:rPr lang="en-US" sz="1300" dirty="0">
                <a:solidFill>
                  <a:schemeClr val="tx1"/>
                </a:solidFill>
              </a:rPr>
              <a:t>Git data always travels over SSH with a personal key (the key = the user). The browser is only for viewing and managing access.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Workflow: .126 holds the main codebase</a:t>
            </a:r>
            <a:endParaRPr lang="en-US" sz="3000" dirty="0"/>
          </a:p>
        </p:txBody>
      </p:sp>
      <p:sp>
        <p:nvSpPr>
          <p:cNvPr id="3" name="hub-64"/>
          <p:cNvSpPr/>
          <p:nvPr/>
        </p:nvSpPr>
        <p:spPr>
          <a:xfrm>
            <a:off x="2331720" y="2057400"/>
            <a:ext cx="2011680" cy="1234440"/>
          </a:xfrm>
          <a:prstGeom prst="roundRect">
            <a:avLst>
              <a:gd name="adj" fmla="val 5926"/>
            </a:avLst>
          </a:prstGeom>
          <a:solidFill>
            <a:schemeClr val="accent1"/>
          </a:solidFill>
          <a:ln w="12700">
            <a:solidFill>
              <a:schemeClr val="accent1"/>
            </a:solidFill>
            <a:prstDash val="solid"/>
          </a:ln>
        </p:spPr>
      </p:sp>
      <p:sp>
        <p:nvSpPr>
          <p:cNvPr id="4" name="text-65"/>
          <p:cNvSpPr txBox="1"/>
          <p:nvPr/>
        </p:nvSpPr>
        <p:spPr>
          <a:xfrm>
            <a:off x="2331720" y="2057400"/>
            <a:ext cx="2011680" cy="1234440"/>
          </a:xfrm>
          <a:prstGeom prst="rect">
            <a:avLst/>
          </a:prstGeom>
          <a:noFill/>
          <a:ln/>
        </p:spPr>
        <p:txBody>
          <a:bodyPr wrap="square" lIns="0" tIns="0" rIns="0" bIns="0" rtlCol="0" anchor="ctr"/>
          <a:lstStyle/>
          <a:p>
            <a:pPr algn="ctr" indent="0" marL="0">
              <a:buNone/>
            </a:pPr>
            <a:r>
              <a:rPr lang="en-US" sz="1800" b="1" dirty="0">
                <a:solidFill>
                  <a:schemeClr val="bg1"/>
                </a:solidFill>
              </a:rPr>
              <a:t>.126</a:t>
            </a:r>
            <a:endParaRPr lang="en-US" sz="1400" dirty="0"/>
          </a:p>
          <a:p>
            <a:pPr algn="ctr" indent="0" marL="0">
              <a:buNone/>
            </a:pPr>
            <a:r>
              <a:rPr lang="en-US" sz="1300" dirty="0">
                <a:solidFill>
                  <a:schemeClr val="bg1"/>
                </a:solidFill>
              </a:rPr>
              <a:t>main codebase</a:t>
            </a:r>
            <a:endParaRPr lang="en-US" sz="1400" dirty="0"/>
          </a:p>
          <a:p>
            <a:pPr algn="ctr" indent="0" marL="0">
              <a:buNone/>
            </a:pPr>
            <a:r>
              <a:rPr lang="en-US" sz="1100" i="1" dirty="0">
                <a:solidFill>
                  <a:schemeClr val="bg1"/>
                </a:solidFill>
              </a:rPr>
              <a:t>single source of truth</a:t>
            </a:r>
            <a:endParaRPr lang="en-US" sz="1400" dirty="0"/>
          </a:p>
        </p:txBody>
      </p:sp>
      <p:sp>
        <p:nvSpPr>
          <p:cNvPr id="5" name="user-66"/>
          <p:cNvSpPr/>
          <p:nvPr/>
        </p:nvSpPr>
        <p:spPr>
          <a:xfrm>
            <a:off x="457200" y="1097280"/>
            <a:ext cx="1600200" cy="731520"/>
          </a:xfrm>
          <a:prstGeom prst="roundRect">
            <a:avLst>
              <a:gd name="adj" fmla="val 10000"/>
            </a:avLst>
          </a:prstGeom>
          <a:solidFill>
            <a:schemeClr val="bg2"/>
          </a:solidFill>
          <a:ln w="12700">
            <a:solidFill>
              <a:schemeClr val="bg2"/>
            </a:solidFill>
            <a:prstDash val="solid"/>
          </a:ln>
        </p:spPr>
      </p:sp>
      <p:sp>
        <p:nvSpPr>
          <p:cNvPr id="6" name="text-67"/>
          <p:cNvSpPr txBox="1"/>
          <p:nvPr/>
        </p:nvSpPr>
        <p:spPr>
          <a:xfrm>
            <a:off x="457200" y="1097280"/>
            <a:ext cx="1600200" cy="731520"/>
          </a:xfrm>
          <a:prstGeom prst="rect">
            <a:avLst/>
          </a:prstGeom>
          <a:noFill/>
          <a:ln/>
        </p:spPr>
        <p:txBody>
          <a:bodyPr wrap="square" lIns="0" tIns="0" rIns="0" bIns="0" rtlCol="0" anchor="ctr"/>
          <a:lstStyle/>
          <a:p>
            <a:pPr algn="ctr" indent="0" marL="0">
              <a:buNone/>
            </a:pPr>
            <a:r>
              <a:rPr lang="en-US" sz="1400" b="1" dirty="0">
                <a:solidFill>
                  <a:schemeClr val="tx2"/>
                </a:solidFill>
              </a:rPr>
              <a:t>User on .157</a:t>
            </a:r>
            <a:endParaRPr lang="en-US" sz="1400" dirty="0"/>
          </a:p>
          <a:p>
            <a:pPr algn="ctr" indent="0" marL="0">
              <a:buNone/>
            </a:pPr>
            <a:r>
              <a:rPr lang="en-US" sz="1100" dirty="0">
                <a:solidFill>
                  <a:schemeClr val="tx1"/>
                </a:solidFill>
              </a:rPr>
              <a:t>e.g. Alice</a:t>
            </a:r>
            <a:endParaRPr lang="en-US" sz="1400" dirty="0"/>
          </a:p>
        </p:txBody>
      </p:sp>
      <p:sp>
        <p:nvSpPr>
          <p:cNvPr id="7" name="user-68"/>
          <p:cNvSpPr/>
          <p:nvPr/>
        </p:nvSpPr>
        <p:spPr>
          <a:xfrm>
            <a:off x="4160520" y="1097280"/>
            <a:ext cx="1600200" cy="731520"/>
          </a:xfrm>
          <a:prstGeom prst="roundRect">
            <a:avLst>
              <a:gd name="adj" fmla="val 10000"/>
            </a:avLst>
          </a:prstGeom>
          <a:solidFill>
            <a:schemeClr val="bg2"/>
          </a:solidFill>
          <a:ln w="12700">
            <a:solidFill>
              <a:schemeClr val="bg2"/>
            </a:solidFill>
            <a:prstDash val="solid"/>
          </a:ln>
        </p:spPr>
      </p:sp>
      <p:sp>
        <p:nvSpPr>
          <p:cNvPr id="8" name="text-69"/>
          <p:cNvSpPr txBox="1"/>
          <p:nvPr/>
        </p:nvSpPr>
        <p:spPr>
          <a:xfrm>
            <a:off x="4160520" y="1097280"/>
            <a:ext cx="1600200" cy="731520"/>
          </a:xfrm>
          <a:prstGeom prst="rect">
            <a:avLst/>
          </a:prstGeom>
          <a:noFill/>
          <a:ln/>
        </p:spPr>
        <p:txBody>
          <a:bodyPr wrap="square" lIns="0" tIns="0" rIns="0" bIns="0" rtlCol="0" anchor="ctr"/>
          <a:lstStyle/>
          <a:p>
            <a:pPr algn="ctr" indent="0" marL="0">
              <a:buNone/>
            </a:pPr>
            <a:r>
              <a:rPr lang="en-US" sz="1400" b="1" dirty="0">
                <a:solidFill>
                  <a:schemeClr val="tx2"/>
                </a:solidFill>
              </a:rPr>
              <a:t>User on .158</a:t>
            </a:r>
            <a:endParaRPr lang="en-US" sz="1400" dirty="0"/>
          </a:p>
          <a:p>
            <a:pPr algn="ctr" indent="0" marL="0">
              <a:buNone/>
            </a:pPr>
            <a:r>
              <a:rPr lang="en-US" sz="1100" dirty="0">
                <a:solidFill>
                  <a:schemeClr val="tx1"/>
                </a:solidFill>
              </a:rPr>
              <a:t>e.g. Bob</a:t>
            </a:r>
            <a:endParaRPr lang="en-US" sz="1400" dirty="0"/>
          </a:p>
        </p:txBody>
      </p:sp>
      <p:sp>
        <p:nvSpPr>
          <p:cNvPr id="9" name="user-70"/>
          <p:cNvSpPr/>
          <p:nvPr/>
        </p:nvSpPr>
        <p:spPr>
          <a:xfrm>
            <a:off x="2542032" y="3794760"/>
            <a:ext cx="1600200" cy="731520"/>
          </a:xfrm>
          <a:prstGeom prst="roundRect">
            <a:avLst>
              <a:gd name="adj" fmla="val 10000"/>
            </a:avLst>
          </a:prstGeom>
          <a:solidFill>
            <a:schemeClr val="bg2"/>
          </a:solidFill>
          <a:ln w="12700">
            <a:solidFill>
              <a:schemeClr val="bg2"/>
            </a:solidFill>
            <a:prstDash val="solid"/>
          </a:ln>
        </p:spPr>
      </p:sp>
      <p:sp>
        <p:nvSpPr>
          <p:cNvPr id="10" name="text-71"/>
          <p:cNvSpPr txBox="1"/>
          <p:nvPr/>
        </p:nvSpPr>
        <p:spPr>
          <a:xfrm>
            <a:off x="2542032" y="3794760"/>
            <a:ext cx="1600200" cy="731520"/>
          </a:xfrm>
          <a:prstGeom prst="rect">
            <a:avLst/>
          </a:prstGeom>
          <a:noFill/>
          <a:ln/>
        </p:spPr>
        <p:txBody>
          <a:bodyPr wrap="square" lIns="0" tIns="0" rIns="0" bIns="0" rtlCol="0" anchor="ctr"/>
          <a:lstStyle/>
          <a:p>
            <a:pPr algn="ctr" indent="0" marL="0">
              <a:buNone/>
            </a:pPr>
            <a:r>
              <a:rPr lang="en-US" sz="1400" b="1" dirty="0">
                <a:solidFill>
                  <a:schemeClr val="tx2"/>
                </a:solidFill>
              </a:rPr>
              <a:t>User on .126</a:t>
            </a:r>
            <a:endParaRPr lang="en-US" sz="1400" dirty="0"/>
          </a:p>
          <a:p>
            <a:pPr algn="ctr" indent="0" marL="0">
              <a:buNone/>
            </a:pPr>
            <a:r>
              <a:rPr lang="en-US" sz="1100" dirty="0">
                <a:solidFill>
                  <a:schemeClr val="tx1"/>
                </a:solidFill>
              </a:rPr>
              <a:t>e.g. Carol</a:t>
            </a:r>
            <a:endParaRPr lang="en-US" sz="1400" dirty="0"/>
          </a:p>
        </p:txBody>
      </p:sp>
      <p:sp>
        <p:nvSpPr>
          <p:cNvPr id="11" name="arrow-72"/>
          <p:cNvSpPr/>
          <p:nvPr/>
        </p:nvSpPr>
        <p:spPr>
          <a:xfrm>
            <a:off x="2057400" y="1828800"/>
            <a:ext cx="502920" cy="274320"/>
          </a:xfrm>
          <a:prstGeom prst="line">
            <a:avLst/>
          </a:prstGeom>
          <a:noFill/>
          <a:ln w="25400">
            <a:solidFill>
              <a:schemeClr val="accent1"/>
            </a:solidFill>
            <a:prstDash val="solid"/>
            <a:headEnd type="triangle"/>
            <a:tailEnd type="triangle"/>
          </a:ln>
        </p:spPr>
      </p:sp>
      <p:sp>
        <p:nvSpPr>
          <p:cNvPr id="12" name="arrow-73"/>
          <p:cNvSpPr/>
          <p:nvPr/>
        </p:nvSpPr>
        <p:spPr>
          <a:xfrm flipH="1">
            <a:off x="4114800" y="1828800"/>
            <a:ext cx="502920" cy="274320"/>
          </a:xfrm>
          <a:prstGeom prst="line">
            <a:avLst/>
          </a:prstGeom>
          <a:noFill/>
          <a:ln w="25400">
            <a:solidFill>
              <a:schemeClr val="accent1"/>
            </a:solidFill>
            <a:prstDash val="solid"/>
            <a:headEnd type="triangle"/>
            <a:tailEnd type="triangle"/>
          </a:ln>
        </p:spPr>
      </p:sp>
      <p:sp>
        <p:nvSpPr>
          <p:cNvPr id="13" name="arrow-74"/>
          <p:cNvSpPr/>
          <p:nvPr/>
        </p:nvSpPr>
        <p:spPr>
          <a:xfrm>
            <a:off x="3337560" y="3310128"/>
            <a:ext cx="0" cy="457200"/>
          </a:xfrm>
          <a:prstGeom prst="line">
            <a:avLst/>
          </a:prstGeom>
          <a:noFill/>
          <a:ln w="25400">
            <a:solidFill>
              <a:schemeClr val="accent1"/>
            </a:solidFill>
            <a:prstDash val="solid"/>
            <a:headEnd type="triangle"/>
            <a:tailEnd type="triangle"/>
          </a:ln>
        </p:spPr>
      </p:sp>
      <p:sp>
        <p:nvSpPr>
          <p:cNvPr id="14" name="text-75"/>
          <p:cNvSpPr txBox="1"/>
          <p:nvPr/>
        </p:nvSpPr>
        <p:spPr>
          <a:xfrm>
            <a:off x="457200" y="1965960"/>
            <a:ext cx="1554480" cy="274320"/>
          </a:xfrm>
          <a:prstGeom prst="rect">
            <a:avLst/>
          </a:prstGeom>
          <a:noFill/>
          <a:ln/>
        </p:spPr>
        <p:txBody>
          <a:bodyPr wrap="square" lIns="0" tIns="0" rIns="0" bIns="0" rtlCol="0" anchor="t"/>
          <a:lstStyle/>
          <a:p>
            <a:pPr algn="r" indent="0" marL="0">
              <a:buNone/>
            </a:pPr>
            <a:r>
              <a:rPr lang="en-US" sz="1100" dirty="0">
                <a:solidFill>
                  <a:schemeClr val="accent4"/>
                </a:solidFill>
              </a:rPr>
              <a:t>push / pull</a:t>
            </a:r>
            <a:endParaRPr lang="en-US" sz="1100" dirty="0"/>
          </a:p>
        </p:txBody>
      </p:sp>
      <p:sp>
        <p:nvSpPr>
          <p:cNvPr id="15" name="text-76"/>
          <p:cNvSpPr txBox="1"/>
          <p:nvPr/>
        </p:nvSpPr>
        <p:spPr>
          <a:xfrm>
            <a:off x="4709160" y="1965960"/>
            <a:ext cx="1463040" cy="274320"/>
          </a:xfrm>
          <a:prstGeom prst="rect">
            <a:avLst/>
          </a:prstGeom>
          <a:noFill/>
          <a:ln/>
        </p:spPr>
        <p:txBody>
          <a:bodyPr wrap="square" lIns="0" tIns="0" rIns="0" bIns="0" rtlCol="0" anchor="t"/>
          <a:lstStyle/>
          <a:p>
            <a:pPr algn="l" indent="0" marL="0">
              <a:buNone/>
            </a:pPr>
            <a:r>
              <a:rPr lang="en-US" sz="1100" dirty="0">
                <a:solidFill>
                  <a:schemeClr val="accent4"/>
                </a:solidFill>
              </a:rPr>
              <a:t>push / pull</a:t>
            </a:r>
            <a:endParaRPr lang="en-US" sz="1100" dirty="0"/>
          </a:p>
        </p:txBody>
      </p:sp>
      <p:sp>
        <p:nvSpPr>
          <p:cNvPr id="16" name="rules-77"/>
          <p:cNvSpPr/>
          <p:nvPr/>
        </p:nvSpPr>
        <p:spPr>
          <a:xfrm>
            <a:off x="6263640" y="1097280"/>
            <a:ext cx="2423160" cy="3154680"/>
          </a:xfrm>
          <a:prstGeom prst="roundRect">
            <a:avLst>
              <a:gd name="adj" fmla="val 3019"/>
            </a:avLst>
          </a:prstGeom>
          <a:solidFill>
            <a:schemeClr val="bg1"/>
          </a:solidFill>
          <a:ln w="12700">
            <a:solidFill>
              <a:schemeClr val="accent5"/>
            </a:solidFill>
            <a:prstDash val="solid"/>
          </a:ln>
        </p:spPr>
      </p:sp>
      <p:sp>
        <p:nvSpPr>
          <p:cNvPr id="17" name="text-78"/>
          <p:cNvSpPr txBox="1"/>
          <p:nvPr/>
        </p:nvSpPr>
        <p:spPr>
          <a:xfrm>
            <a:off x="6446520" y="1207008"/>
            <a:ext cx="2103120" cy="320040"/>
          </a:xfrm>
          <a:prstGeom prst="rect">
            <a:avLst/>
          </a:prstGeom>
          <a:noFill/>
          <a:ln/>
        </p:spPr>
        <p:txBody>
          <a:bodyPr wrap="square" lIns="0" tIns="0" rIns="0" bIns="0" rtlCol="0" anchor="t"/>
          <a:lstStyle/>
          <a:p>
            <a:pPr algn="l" indent="0" marL="0">
              <a:buNone/>
            </a:pPr>
            <a:r>
              <a:rPr lang="en-US" sz="1600" b="1" dirty="0">
                <a:solidFill>
                  <a:schemeClr val="tx2"/>
                </a:solidFill>
              </a:rPr>
              <a:t>How it works</a:t>
            </a:r>
            <a:endParaRPr lang="en-US" sz="1600" dirty="0"/>
          </a:p>
        </p:txBody>
      </p:sp>
      <p:sp>
        <p:nvSpPr>
          <p:cNvPr id="18" name="text-79"/>
          <p:cNvSpPr txBox="1"/>
          <p:nvPr/>
        </p:nvSpPr>
        <p:spPr>
          <a:xfrm>
            <a:off x="6446520" y="1600200"/>
            <a:ext cx="2148840" cy="2834640"/>
          </a:xfrm>
          <a:prstGeom prst="rect">
            <a:avLst/>
          </a:prstGeom>
          <a:noFill/>
          <a:ln/>
        </p:spPr>
        <p:txBody>
          <a:bodyPr wrap="square" lIns="0" tIns="0" rIns="0" bIns="0" rtlCol="0" anchor="t"/>
          <a:lstStyle/>
          <a:p>
            <a:pPr algn="l" marL="342900" indent="-342900">
              <a:spcAft>
                <a:spcPts val="800"/>
              </a:spcAft>
              <a:buSzPct val="100000"/>
              <a:buChar char="•"/>
            </a:pPr>
            <a:r>
              <a:rPr lang="en-US" sz="1300" dirty="0">
                <a:solidFill>
                  <a:schemeClr val="tx1"/>
                </a:solidFill>
              </a:rPr>
              <a:t>Everyone works in their own copy, on their own server</a:t>
            </a:r>
            <a:endParaRPr lang="en-US" sz="1300" dirty="0"/>
          </a:p>
          <a:p>
            <a:pPr algn="l" marL="342900" indent="-342900">
              <a:spcAft>
                <a:spcPts val="800"/>
              </a:spcAft>
              <a:buSzPct val="100000"/>
              <a:buChar char="•"/>
            </a:pPr>
            <a:r>
              <a:rPr lang="en-US" sz="1300" dirty="0">
                <a:solidFill>
                  <a:schemeClr val="tx1"/>
                </a:solidFill>
              </a:rPr>
              <a:t>Changes are shared only through main on .126</a:t>
            </a:r>
            <a:endParaRPr lang="en-US" sz="1300" dirty="0"/>
          </a:p>
          <a:p>
            <a:pPr algn="l" marL="342900" indent="-342900">
              <a:spcAft>
                <a:spcPts val="800"/>
              </a:spcAft>
              <a:buSzPct val="100000"/>
              <a:buChar char="•"/>
            </a:pPr>
            <a:r>
              <a:rPr lang="en-US" sz="1300" dirty="0">
                <a:solidFill>
                  <a:schemeClr val="tx1"/>
                </a:solidFill>
              </a:rPr>
              <a:t>Each user gets Read or Read &amp; write per repository</a:t>
            </a:r>
            <a:endParaRPr lang="en-US" sz="1300" dirty="0"/>
          </a:p>
          <a:p>
            <a:pPr algn="l" marL="342900" indent="-342900">
              <a:spcAft>
                <a:spcPts val="800"/>
              </a:spcAft>
              <a:buSzPct val="100000"/>
              <a:buChar char="•"/>
            </a:pPr>
            <a:r>
              <a:rPr lang="en-US" sz="1300" dirty="0">
                <a:solidFill>
                  <a:schemeClr val="tx1"/>
                </a:solidFill>
              </a:rPr>
              <a:t>main is protected and backed up automatically</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From new repository to shared work</a:t>
            </a:r>
            <a:endParaRPr lang="en-US" sz="3000" dirty="0"/>
          </a:p>
        </p:txBody>
      </p:sp>
      <p:sp>
        <p:nvSpPr>
          <p:cNvPr id="3" name="badge-80"/>
          <p:cNvSpPr/>
          <p:nvPr/>
        </p:nvSpPr>
        <p:spPr>
          <a:xfrm>
            <a:off x="457200" y="1024128"/>
            <a:ext cx="329184" cy="329184"/>
          </a:xfrm>
          <a:prstGeom prst="ellipse">
            <a:avLst/>
          </a:prstGeom>
          <a:solidFill>
            <a:schemeClr val="accent2"/>
          </a:solidFill>
          <a:ln w="12700">
            <a:solidFill>
              <a:schemeClr val="accent2"/>
            </a:solidFill>
            <a:prstDash val="solid"/>
          </a:ln>
        </p:spPr>
      </p:sp>
      <p:sp>
        <p:nvSpPr>
          <p:cNvPr id="4" name="text-81"/>
          <p:cNvSpPr txBox="1"/>
          <p:nvPr/>
        </p:nvSpPr>
        <p:spPr>
          <a:xfrm>
            <a:off x="457200" y="1024128"/>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82"/>
          <p:cNvSpPr txBox="1"/>
          <p:nvPr/>
        </p:nvSpPr>
        <p:spPr>
          <a:xfrm>
            <a:off x="877824" y="1024128"/>
            <a:ext cx="3611880" cy="329184"/>
          </a:xfrm>
          <a:prstGeom prst="rect">
            <a:avLst/>
          </a:prstGeom>
          <a:noFill/>
          <a:ln/>
        </p:spPr>
        <p:txBody>
          <a:bodyPr wrap="square" lIns="0" tIns="0" rIns="0" bIns="0" rtlCol="0" anchor="ctr"/>
          <a:lstStyle/>
          <a:p>
            <a:pPr algn="l" indent="0" marL="0">
              <a:buNone/>
            </a:pPr>
            <a:r>
              <a:rPr lang="en-US" sz="1200" b="1" dirty="0">
                <a:solidFill>
                  <a:schemeClr val="tx2"/>
                </a:solidFill>
              </a:rPr>
              <a:t>Admin · dashboard on .126  </a:t>
            </a:r>
            <a:pPr algn="l" indent="0" marL="0">
              <a:buNone/>
            </a:pPr>
            <a:r>
              <a:rPr lang="en-US" sz="1200" dirty="0">
                <a:solidFill>
                  <a:schemeClr val="tx1"/>
                </a:solidFill>
              </a:rPr>
              <a:t>creates fpga-rtl and gives A and B Read &amp; write</a:t>
            </a:r>
            <a:endParaRPr lang="en-US" sz="1200" dirty="0"/>
          </a:p>
        </p:txBody>
      </p:sp>
      <p:pic>
        <p:nvPicPr>
          <p:cNvPr id="6" name="screenshot-83" descr="/home/claude/ppt/shots/c-access.png">    </p:cNvPr>
          <p:cNvPicPr>
            <a:picLocks noChangeAspect="1"/>
          </p:cNvPicPr>
          <p:nvPr/>
        </p:nvPicPr>
        <p:blipFill>
          <a:blip r:embed="rId1"/>
          <a:stretch>
            <a:fillRect/>
          </a:stretch>
        </p:blipFill>
        <p:spPr>
          <a:xfrm>
            <a:off x="457200" y="1435608"/>
            <a:ext cx="3283617" cy="1353312"/>
          </a:xfrm>
          <a:prstGeom prst="rect">
            <a:avLst/>
          </a:prstGeom>
        </p:spPr>
      </p:pic>
      <p:sp>
        <p:nvSpPr>
          <p:cNvPr id="7" name="frame-84"/>
          <p:cNvSpPr/>
          <p:nvPr/>
        </p:nvSpPr>
        <p:spPr>
          <a:xfrm>
            <a:off x="457200" y="1435608"/>
            <a:ext cx="3283617" cy="1353312"/>
          </a:xfrm>
          <a:prstGeom prst="rect">
            <a:avLst/>
          </a:prstGeom>
          <a:ln w="9525">
            <a:solidFill>
              <a:schemeClr val="accent5"/>
            </a:solidFill>
            <a:prstDash val="solid"/>
          </a:ln>
        </p:spPr>
      </p:sp>
      <p:sp>
        <p:nvSpPr>
          <p:cNvPr id="8" name="badge-85"/>
          <p:cNvSpPr/>
          <p:nvPr/>
        </p:nvSpPr>
        <p:spPr>
          <a:xfrm>
            <a:off x="4663440" y="1024128"/>
            <a:ext cx="329184" cy="329184"/>
          </a:xfrm>
          <a:prstGeom prst="ellipse">
            <a:avLst/>
          </a:prstGeom>
          <a:solidFill>
            <a:schemeClr val="accent2"/>
          </a:solidFill>
          <a:ln w="12700">
            <a:solidFill>
              <a:schemeClr val="accent2"/>
            </a:solidFill>
            <a:prstDash val="solid"/>
          </a:ln>
        </p:spPr>
      </p:sp>
      <p:sp>
        <p:nvSpPr>
          <p:cNvPr id="9" name="text-86"/>
          <p:cNvSpPr txBox="1"/>
          <p:nvPr/>
        </p:nvSpPr>
        <p:spPr>
          <a:xfrm>
            <a:off x="4663440" y="1024128"/>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87"/>
          <p:cNvSpPr txBox="1"/>
          <p:nvPr/>
        </p:nvSpPr>
        <p:spPr>
          <a:xfrm>
            <a:off x="5084064" y="1024128"/>
            <a:ext cx="3611880" cy="329184"/>
          </a:xfrm>
          <a:prstGeom prst="rect">
            <a:avLst/>
          </a:prstGeom>
          <a:noFill/>
          <a:ln/>
        </p:spPr>
        <p:txBody>
          <a:bodyPr wrap="square" lIns="0" tIns="0" rIns="0" bIns="0" rtlCol="0" anchor="ctr"/>
          <a:lstStyle/>
          <a:p>
            <a:pPr algn="l" indent="0" marL="0">
              <a:buNone/>
            </a:pPr>
            <a:r>
              <a:rPr lang="en-US" sz="1200" b="1" dirty="0">
                <a:solidFill>
                  <a:schemeClr val="tx2"/>
                </a:solidFill>
              </a:rPr>
              <a:t>User A · .157  </a:t>
            </a:r>
            <a:pPr algn="l" indent="0" marL="0">
              <a:buNone/>
            </a:pPr>
            <a:r>
              <a:rPr lang="en-US" sz="1200" dirty="0">
                <a:solidFill>
                  <a:schemeClr val="tx1"/>
                </a:solidFill>
              </a:rPr>
              <a:t>clones, commits and pushes the first code</a:t>
            </a:r>
            <a:endParaRPr lang="en-US" sz="1200" dirty="0"/>
          </a:p>
        </p:txBody>
      </p:sp>
      <p:pic>
        <p:nvPicPr>
          <p:cNvPr id="11" name="screenshot-88" descr="/home/claude/ppt/shots/t-alice-push.png">    </p:cNvPr>
          <p:cNvPicPr>
            <a:picLocks noChangeAspect="1"/>
          </p:cNvPicPr>
          <p:nvPr/>
        </p:nvPicPr>
        <p:blipFill>
          <a:blip r:embed="rId2"/>
          <a:stretch>
            <a:fillRect/>
          </a:stretch>
        </p:blipFill>
        <p:spPr>
          <a:xfrm>
            <a:off x="4663440" y="1435608"/>
            <a:ext cx="4023360" cy="1284380"/>
          </a:xfrm>
          <a:prstGeom prst="rect">
            <a:avLst/>
          </a:prstGeom>
        </p:spPr>
      </p:pic>
      <p:sp>
        <p:nvSpPr>
          <p:cNvPr id="12" name="frame-89"/>
          <p:cNvSpPr/>
          <p:nvPr/>
        </p:nvSpPr>
        <p:spPr>
          <a:xfrm>
            <a:off x="4663440" y="1435608"/>
            <a:ext cx="4023360" cy="1284380"/>
          </a:xfrm>
          <a:prstGeom prst="rect">
            <a:avLst/>
          </a:prstGeom>
          <a:ln w="9525">
            <a:solidFill>
              <a:schemeClr val="accent5"/>
            </a:solidFill>
            <a:prstDash val="solid"/>
          </a:ln>
        </p:spPr>
      </p:sp>
      <p:sp>
        <p:nvSpPr>
          <p:cNvPr id="13" name="badge-90"/>
          <p:cNvSpPr/>
          <p:nvPr/>
        </p:nvSpPr>
        <p:spPr>
          <a:xfrm>
            <a:off x="457200" y="2871216"/>
            <a:ext cx="329184" cy="329184"/>
          </a:xfrm>
          <a:prstGeom prst="ellipse">
            <a:avLst/>
          </a:prstGeom>
          <a:solidFill>
            <a:schemeClr val="accent2"/>
          </a:solidFill>
          <a:ln w="12700">
            <a:solidFill>
              <a:schemeClr val="accent2"/>
            </a:solidFill>
            <a:prstDash val="solid"/>
          </a:ln>
        </p:spPr>
      </p:sp>
      <p:sp>
        <p:nvSpPr>
          <p:cNvPr id="14" name="text-91"/>
          <p:cNvSpPr txBox="1"/>
          <p:nvPr/>
        </p:nvSpPr>
        <p:spPr>
          <a:xfrm>
            <a:off x="457200" y="2871216"/>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92"/>
          <p:cNvSpPr txBox="1"/>
          <p:nvPr/>
        </p:nvSpPr>
        <p:spPr>
          <a:xfrm>
            <a:off x="877824" y="2871216"/>
            <a:ext cx="3611880" cy="329184"/>
          </a:xfrm>
          <a:prstGeom prst="rect">
            <a:avLst/>
          </a:prstGeom>
          <a:noFill/>
          <a:ln/>
        </p:spPr>
        <p:txBody>
          <a:bodyPr wrap="square" lIns="0" tIns="0" rIns="0" bIns="0" rtlCol="0" anchor="ctr"/>
          <a:lstStyle/>
          <a:p>
            <a:pPr algn="l" indent="0" marL="0">
              <a:buNone/>
            </a:pPr>
            <a:r>
              <a:rPr lang="en-US" sz="1200" b="1" dirty="0">
                <a:solidFill>
                  <a:schemeClr val="tx2"/>
                </a:solidFill>
              </a:rPr>
              <a:t>User B · .158  </a:t>
            </a:r>
            <a:pPr algn="l" indent="0" marL="0">
              <a:buNone/>
            </a:pPr>
            <a:r>
              <a:rPr lang="en-US" sz="1200" dirty="0">
                <a:solidFill>
                  <a:schemeClr val="tx1"/>
                </a:solidFill>
              </a:rPr>
              <a:t>clones, fixes a bug, commits and pushes</a:t>
            </a:r>
            <a:endParaRPr lang="en-US" sz="1200" dirty="0"/>
          </a:p>
        </p:txBody>
      </p:sp>
      <p:pic>
        <p:nvPicPr>
          <p:cNvPr id="16" name="screenshot-93" descr="/home/claude/ppt/shots/t-bob-push.png">    </p:cNvPr>
          <p:cNvPicPr>
            <a:picLocks noChangeAspect="1"/>
          </p:cNvPicPr>
          <p:nvPr/>
        </p:nvPicPr>
        <p:blipFill>
          <a:blip r:embed="rId3"/>
          <a:stretch>
            <a:fillRect/>
          </a:stretch>
        </p:blipFill>
        <p:spPr>
          <a:xfrm>
            <a:off x="457200" y="3282696"/>
            <a:ext cx="4023360" cy="1176059"/>
          </a:xfrm>
          <a:prstGeom prst="rect">
            <a:avLst/>
          </a:prstGeom>
        </p:spPr>
      </p:pic>
      <p:sp>
        <p:nvSpPr>
          <p:cNvPr id="17" name="frame-94"/>
          <p:cNvSpPr/>
          <p:nvPr/>
        </p:nvSpPr>
        <p:spPr>
          <a:xfrm>
            <a:off x="457200" y="3282696"/>
            <a:ext cx="4023360" cy="1176059"/>
          </a:xfrm>
          <a:prstGeom prst="rect">
            <a:avLst/>
          </a:prstGeom>
          <a:ln w="9525">
            <a:solidFill>
              <a:schemeClr val="accent5"/>
            </a:solidFill>
            <a:prstDash val="solid"/>
          </a:ln>
        </p:spPr>
      </p:sp>
      <p:sp>
        <p:nvSpPr>
          <p:cNvPr id="18" name="badge-95"/>
          <p:cNvSpPr/>
          <p:nvPr/>
        </p:nvSpPr>
        <p:spPr>
          <a:xfrm>
            <a:off x="4663440" y="2871216"/>
            <a:ext cx="329184" cy="329184"/>
          </a:xfrm>
          <a:prstGeom prst="ellipse">
            <a:avLst/>
          </a:prstGeom>
          <a:solidFill>
            <a:schemeClr val="accent2"/>
          </a:solidFill>
          <a:ln w="12700">
            <a:solidFill>
              <a:schemeClr val="accent2"/>
            </a:solidFill>
            <a:prstDash val="solid"/>
          </a:ln>
        </p:spPr>
      </p:sp>
      <p:sp>
        <p:nvSpPr>
          <p:cNvPr id="19" name="text-96"/>
          <p:cNvSpPr txBox="1"/>
          <p:nvPr/>
        </p:nvSpPr>
        <p:spPr>
          <a:xfrm>
            <a:off x="4663440" y="2871216"/>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97"/>
          <p:cNvSpPr txBox="1"/>
          <p:nvPr/>
        </p:nvSpPr>
        <p:spPr>
          <a:xfrm>
            <a:off x="5084064" y="2871216"/>
            <a:ext cx="3611880" cy="329184"/>
          </a:xfrm>
          <a:prstGeom prst="rect">
            <a:avLst/>
          </a:prstGeom>
          <a:noFill/>
          <a:ln/>
        </p:spPr>
        <p:txBody>
          <a:bodyPr wrap="square" lIns="0" tIns="0" rIns="0" bIns="0" rtlCol="0" anchor="ctr"/>
          <a:lstStyle/>
          <a:p>
            <a:pPr algn="l" indent="0" marL="0">
              <a:buNone/>
            </a:pPr>
            <a:r>
              <a:rPr lang="en-US" sz="1200" b="1" dirty="0">
                <a:solidFill>
                  <a:schemeClr val="tx2"/>
                </a:solidFill>
              </a:rPr>
              <a:t>User A · .157  </a:t>
            </a:r>
            <a:pPr algn="l" indent="0" marL="0">
              <a:buNone/>
            </a:pPr>
            <a:r>
              <a:rPr lang="en-US" sz="1200" dirty="0">
                <a:solidFill>
                  <a:schemeClr val="tx1"/>
                </a:solidFill>
              </a:rPr>
              <a:t>pulls and gets B's change automatically</a:t>
            </a:r>
            <a:endParaRPr lang="en-US" sz="1200" dirty="0"/>
          </a:p>
        </p:txBody>
      </p:sp>
      <p:pic>
        <p:nvPicPr>
          <p:cNvPr id="21" name="screenshot-98" descr="/home/claude/ppt/shots/t-alice-pull.png">    </p:cNvPr>
          <p:cNvPicPr>
            <a:picLocks noChangeAspect="1"/>
          </p:cNvPicPr>
          <p:nvPr/>
        </p:nvPicPr>
        <p:blipFill>
          <a:blip r:embed="rId4"/>
          <a:stretch>
            <a:fillRect/>
          </a:stretch>
        </p:blipFill>
        <p:spPr>
          <a:xfrm>
            <a:off x="4663440" y="3282696"/>
            <a:ext cx="4023360" cy="1289538"/>
          </a:xfrm>
          <a:prstGeom prst="rect">
            <a:avLst/>
          </a:prstGeom>
        </p:spPr>
      </p:pic>
      <p:sp>
        <p:nvSpPr>
          <p:cNvPr id="22" name="frame-99"/>
          <p:cNvSpPr/>
          <p:nvPr/>
        </p:nvSpPr>
        <p:spPr>
          <a:xfrm>
            <a:off x="4663440" y="3282696"/>
            <a:ext cx="4023360" cy="1289538"/>
          </a:xfrm>
          <a:prstGeom prst="rect">
            <a:avLst/>
          </a:prstGeom>
          <a:ln w="9525">
            <a:solidFill>
              <a:schemeClr val="accent5"/>
            </a:solidFill>
            <a:prstDash val="solid"/>
          </a:ln>
        </p:spPr>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Seeing what others changed</a:t>
            </a:r>
            <a:endParaRPr lang="en-US" sz="3000" dirty="0"/>
          </a:p>
        </p:txBody>
      </p:sp>
      <p:sp>
        <p:nvSpPr>
          <p:cNvPr id="3" name="text-100"/>
          <p:cNvSpPr txBox="1"/>
          <p:nvPr/>
        </p:nvSpPr>
        <p:spPr>
          <a:xfrm>
            <a:off x="457200" y="1005840"/>
            <a:ext cx="3931920" cy="411480"/>
          </a:xfrm>
          <a:prstGeom prst="rect">
            <a:avLst/>
          </a:prstGeom>
          <a:noFill/>
          <a:ln/>
        </p:spPr>
        <p:txBody>
          <a:bodyPr wrap="square" lIns="0" tIns="0" rIns="0" bIns="0" rtlCol="0" anchor="t"/>
          <a:lstStyle/>
          <a:p>
            <a:pPr algn="l" indent="0" marL="0">
              <a:buNone/>
            </a:pPr>
            <a:r>
              <a:rPr lang="en-US" sz="1200" b="1" dirty="0">
                <a:solidFill>
                  <a:schemeClr val="tx2"/>
                </a:solidFill>
              </a:rPr>
              <a:t>History of main (dashboard): each commit with author and time</a:t>
            </a:r>
            <a:endParaRPr lang="en-US" sz="1200" dirty="0"/>
          </a:p>
        </p:txBody>
      </p:sp>
      <p:pic>
        <p:nvPicPr>
          <p:cNvPr id="4" name="screenshot-101" descr="/home/claude/ppt/shots/c-history.png">    </p:cNvPr>
          <p:cNvPicPr>
            <a:picLocks noChangeAspect="1"/>
          </p:cNvPicPr>
          <p:nvPr/>
        </p:nvPicPr>
        <p:blipFill>
          <a:blip r:embed="rId1"/>
          <a:stretch>
            <a:fillRect/>
          </a:stretch>
        </p:blipFill>
        <p:spPr>
          <a:xfrm>
            <a:off x="457200" y="1444752"/>
            <a:ext cx="3931920" cy="1271095"/>
          </a:xfrm>
          <a:prstGeom prst="rect">
            <a:avLst/>
          </a:prstGeom>
        </p:spPr>
      </p:pic>
      <p:sp>
        <p:nvSpPr>
          <p:cNvPr id="5" name="frame-102"/>
          <p:cNvSpPr/>
          <p:nvPr/>
        </p:nvSpPr>
        <p:spPr>
          <a:xfrm>
            <a:off x="457200" y="1444752"/>
            <a:ext cx="3931920" cy="1271095"/>
          </a:xfrm>
          <a:prstGeom prst="rect">
            <a:avLst/>
          </a:prstGeom>
          <a:ln w="9525">
            <a:solidFill>
              <a:schemeClr val="accent5"/>
            </a:solidFill>
            <a:prstDash val="solid"/>
          </a:ln>
        </p:spPr>
      </p:sp>
      <p:sp>
        <p:nvSpPr>
          <p:cNvPr id="6" name="arrow-103"/>
          <p:cNvSpPr/>
          <p:nvPr/>
        </p:nvSpPr>
        <p:spPr>
          <a:xfrm>
            <a:off x="4434840" y="1874520"/>
            <a:ext cx="274320" cy="0"/>
          </a:xfrm>
          <a:prstGeom prst="line">
            <a:avLst/>
          </a:prstGeom>
          <a:noFill/>
          <a:ln w="31750">
            <a:solidFill>
              <a:schemeClr val="accent2"/>
            </a:solidFill>
            <a:prstDash val="solid"/>
            <a:tailEnd type="triangle"/>
          </a:ln>
        </p:spPr>
      </p:sp>
      <p:sp>
        <p:nvSpPr>
          <p:cNvPr id="7" name="text-104"/>
          <p:cNvSpPr txBox="1"/>
          <p:nvPr/>
        </p:nvSpPr>
        <p:spPr>
          <a:xfrm>
            <a:off x="4754880" y="1005840"/>
            <a:ext cx="3931920" cy="411480"/>
          </a:xfrm>
          <a:prstGeom prst="rect">
            <a:avLst/>
          </a:prstGeom>
          <a:noFill/>
          <a:ln/>
        </p:spPr>
        <p:txBody>
          <a:bodyPr wrap="square" lIns="0" tIns="0" rIns="0" bIns="0" rtlCol="0" anchor="t"/>
          <a:lstStyle/>
          <a:p>
            <a:pPr algn="l" indent="0" marL="0">
              <a:buNone/>
            </a:pPr>
            <a:r>
              <a:rPr lang="en-US" sz="1200" b="1" dirty="0">
                <a:solidFill>
                  <a:schemeClr val="tx2"/>
                </a:solidFill>
              </a:rPr>
              <a:t>Bob's commit, opened with one click: exact lines changed</a:t>
            </a:r>
            <a:endParaRPr lang="en-US" sz="1200" dirty="0"/>
          </a:p>
        </p:txBody>
      </p:sp>
      <p:pic>
        <p:nvPicPr>
          <p:cNvPr id="8" name="screenshot-105" descr="/home/claude/ppt/shots/c-diff-head.png">    </p:cNvPr>
          <p:cNvPicPr>
            <a:picLocks noChangeAspect="1"/>
          </p:cNvPicPr>
          <p:nvPr/>
        </p:nvPicPr>
        <p:blipFill>
          <a:blip r:embed="rId2"/>
          <a:stretch>
            <a:fillRect/>
          </a:stretch>
        </p:blipFill>
        <p:spPr>
          <a:xfrm>
            <a:off x="4754880" y="1444752"/>
            <a:ext cx="3931920" cy="645238"/>
          </a:xfrm>
          <a:prstGeom prst="rect">
            <a:avLst/>
          </a:prstGeom>
        </p:spPr>
      </p:pic>
      <p:sp>
        <p:nvSpPr>
          <p:cNvPr id="9" name="frame-106"/>
          <p:cNvSpPr/>
          <p:nvPr/>
        </p:nvSpPr>
        <p:spPr>
          <a:xfrm>
            <a:off x="4754880" y="1444752"/>
            <a:ext cx="3931920" cy="645238"/>
          </a:xfrm>
          <a:prstGeom prst="rect">
            <a:avLst/>
          </a:prstGeom>
          <a:ln w="9525">
            <a:solidFill>
              <a:schemeClr val="accent5"/>
            </a:solidFill>
            <a:prstDash val="solid"/>
          </a:ln>
        </p:spPr>
      </p:sp>
      <p:pic>
        <p:nvPicPr>
          <p:cNvPr id="10" name="screenshot-107" descr="/home/claude/ppt/shots/c-diff.png">    </p:cNvPr>
          <p:cNvPicPr>
            <a:picLocks noChangeAspect="1"/>
          </p:cNvPicPr>
          <p:nvPr/>
        </p:nvPicPr>
        <p:blipFill>
          <a:blip r:embed="rId3"/>
          <a:stretch>
            <a:fillRect/>
          </a:stretch>
        </p:blipFill>
        <p:spPr>
          <a:xfrm>
            <a:off x="4754880" y="2157984"/>
            <a:ext cx="3931920" cy="1496146"/>
          </a:xfrm>
          <a:prstGeom prst="rect">
            <a:avLst/>
          </a:prstGeom>
        </p:spPr>
      </p:pic>
      <p:sp>
        <p:nvSpPr>
          <p:cNvPr id="11" name="frame-108"/>
          <p:cNvSpPr/>
          <p:nvPr/>
        </p:nvSpPr>
        <p:spPr>
          <a:xfrm>
            <a:off x="4754880" y="2157984"/>
            <a:ext cx="3931920" cy="1496146"/>
          </a:xfrm>
          <a:prstGeom prst="rect">
            <a:avLst/>
          </a:prstGeom>
          <a:ln w="9525">
            <a:solidFill>
              <a:schemeClr val="accent5"/>
            </a:solidFill>
            <a:prstDash val="solid"/>
          </a:ln>
        </p:spPr>
      </p:sp>
      <p:sp>
        <p:nvSpPr>
          <p:cNvPr id="12" name="text-109"/>
          <p:cNvSpPr txBox="1"/>
          <p:nvPr/>
        </p:nvSpPr>
        <p:spPr>
          <a:xfrm>
            <a:off x="4754880" y="3767328"/>
            <a:ext cx="3931920" cy="274320"/>
          </a:xfrm>
          <a:prstGeom prst="rect">
            <a:avLst/>
          </a:prstGeom>
          <a:noFill/>
          <a:ln/>
        </p:spPr>
        <p:txBody>
          <a:bodyPr wrap="square" lIns="0" tIns="0" rIns="0" bIns="0" rtlCol="0" anchor="t"/>
          <a:lstStyle/>
          <a:p>
            <a:pPr algn="l" indent="0" marL="0">
              <a:buNone/>
            </a:pPr>
            <a:r>
              <a:rPr lang="en-US" sz="1100" dirty="0">
                <a:solidFill>
                  <a:schemeClr val="accent4"/>
                </a:solidFill>
                <a:latin typeface="Courier New" pitchFamily="34" charset="0"/>
                <a:ea typeface="Courier New" pitchFamily="34" charset="-122"/>
                <a:cs typeface="Courier New" pitchFamily="34" charset="-120"/>
              </a:rPr>
              <a:t>Terminal: git log  ·  git show 1fd18bc</a:t>
            </a:r>
            <a:endParaRPr lang="en-US" sz="1100" dirty="0"/>
          </a:p>
        </p:txBody>
      </p:sp>
      <p:sp>
        <p:nvSpPr>
          <p:cNvPr id="13" name="text-110"/>
          <p:cNvSpPr txBox="1"/>
          <p:nvPr/>
        </p:nvSpPr>
        <p:spPr>
          <a:xfrm>
            <a:off x="457200" y="2880360"/>
            <a:ext cx="3931920" cy="329184"/>
          </a:xfrm>
          <a:prstGeom prst="rect">
            <a:avLst/>
          </a:prstGeom>
          <a:noFill/>
          <a:ln/>
        </p:spPr>
        <p:txBody>
          <a:bodyPr wrap="square" lIns="0" tIns="0" rIns="0" bIns="0" rtlCol="0" anchor="ctr"/>
          <a:lstStyle/>
          <a:p>
            <a:pPr algn="l" indent="0" marL="0">
              <a:buNone/>
            </a:pPr>
            <a:r>
              <a:rPr lang="en-US" sz="1400" b="1" dirty="0">
                <a:solidFill>
                  <a:schemeClr val="tx2"/>
                </a:solidFill>
              </a:rPr>
              <a:t>Who: </a:t>
            </a:r>
            <a:pPr algn="l" indent="0" marL="0">
              <a:buNone/>
            </a:pPr>
            <a:r>
              <a:rPr lang="en-US" sz="1400" dirty="0">
                <a:solidFill>
                  <a:schemeClr val="tx1"/>
                </a:solidFill>
              </a:rPr>
              <a:t>bob</a:t>
            </a:r>
            <a:endParaRPr lang="en-US" sz="1400" dirty="0"/>
          </a:p>
        </p:txBody>
      </p:sp>
      <p:sp>
        <p:nvSpPr>
          <p:cNvPr id="14" name="text-111"/>
          <p:cNvSpPr txBox="1"/>
          <p:nvPr/>
        </p:nvSpPr>
        <p:spPr>
          <a:xfrm>
            <a:off x="457200" y="3264408"/>
            <a:ext cx="3931920" cy="329184"/>
          </a:xfrm>
          <a:prstGeom prst="rect">
            <a:avLst/>
          </a:prstGeom>
          <a:noFill/>
          <a:ln/>
        </p:spPr>
        <p:txBody>
          <a:bodyPr wrap="square" lIns="0" tIns="0" rIns="0" bIns="0" rtlCol="0" anchor="ctr"/>
          <a:lstStyle/>
          <a:p>
            <a:pPr algn="l" indent="0" marL="0">
              <a:buNone/>
            </a:pPr>
            <a:r>
              <a:rPr lang="en-US" sz="1400" b="1" dirty="0">
                <a:solidFill>
                  <a:schemeClr val="tx2"/>
                </a:solidFill>
              </a:rPr>
              <a:t>When: </a:t>
            </a:r>
            <a:pPr algn="l" indent="0" marL="0">
              <a:buNone/>
            </a:pPr>
            <a:r>
              <a:rPr lang="en-US" sz="1400" dirty="0">
                <a:solidFill>
                  <a:schemeClr val="tx1"/>
                </a:solidFill>
              </a:rPr>
              <a:t>15:31, Oct 21</a:t>
            </a:r>
            <a:endParaRPr lang="en-US" sz="1400" dirty="0"/>
          </a:p>
        </p:txBody>
      </p:sp>
      <p:sp>
        <p:nvSpPr>
          <p:cNvPr id="15" name="text-112"/>
          <p:cNvSpPr txBox="1"/>
          <p:nvPr/>
        </p:nvSpPr>
        <p:spPr>
          <a:xfrm>
            <a:off x="457200" y="3648456"/>
            <a:ext cx="3931920" cy="329184"/>
          </a:xfrm>
          <a:prstGeom prst="rect">
            <a:avLst/>
          </a:prstGeom>
          <a:noFill/>
          <a:ln/>
        </p:spPr>
        <p:txBody>
          <a:bodyPr wrap="square" lIns="0" tIns="0" rIns="0" bIns="0" rtlCol="0" anchor="ctr"/>
          <a:lstStyle/>
          <a:p>
            <a:pPr algn="l" indent="0" marL="0">
              <a:buNone/>
            </a:pPr>
            <a:r>
              <a:rPr lang="en-US" sz="1400" b="1" dirty="0">
                <a:solidFill>
                  <a:schemeClr val="tx2"/>
                </a:solidFill>
              </a:rPr>
              <a:t>What: </a:t>
            </a:r>
            <a:pPr algn="l" indent="0" marL="0">
              <a:buNone/>
            </a:pPr>
            <a:r>
              <a:rPr lang="en-US" sz="1400" dirty="0">
                <a:solidFill>
                  <a:schemeClr val="tx1"/>
                </a:solidFill>
              </a:rPr>
              <a:t>2 lines in uart_tx.v</a:t>
            </a:r>
            <a:endParaRPr lang="en-US" sz="1400" dirty="0"/>
          </a:p>
        </p:txBody>
      </p:sp>
      <p:sp>
        <p:nvSpPr>
          <p:cNvPr id="16" name="text-113"/>
          <p:cNvSpPr txBox="1"/>
          <p:nvPr/>
        </p:nvSpPr>
        <p:spPr>
          <a:xfrm>
            <a:off x="457200" y="4032504"/>
            <a:ext cx="3931920" cy="329184"/>
          </a:xfrm>
          <a:prstGeom prst="rect">
            <a:avLst/>
          </a:prstGeom>
          <a:noFill/>
          <a:ln/>
        </p:spPr>
        <p:txBody>
          <a:bodyPr wrap="square" lIns="0" tIns="0" rIns="0" bIns="0" rtlCol="0" anchor="ctr"/>
          <a:lstStyle/>
          <a:p>
            <a:pPr algn="l" indent="0" marL="0">
              <a:buNone/>
            </a:pPr>
            <a:r>
              <a:rPr lang="en-US" sz="1400" b="1" dirty="0">
                <a:solidFill>
                  <a:schemeClr val="tx2"/>
                </a:solidFill>
              </a:rPr>
              <a:t>Why: </a:t>
            </a:r>
            <a:pPr algn="l" indent="0" marL="0">
              <a:buNone/>
            </a:pPr>
            <a:r>
              <a:rPr lang="en-US" sz="1400" dirty="0">
                <a:solidFill>
                  <a:schemeClr val="tx1"/>
                </a:solidFill>
              </a:rPr>
              <a:t>commit message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Advantages and efficiency</a:t>
            </a:r>
            <a:endParaRPr lang="en-US" sz="3000" dirty="0"/>
          </a:p>
        </p:txBody>
      </p:sp>
      <p:sp>
        <p:nvSpPr>
          <p:cNvPr id="3" name="adv-card-114"/>
          <p:cNvSpPr/>
          <p:nvPr/>
        </p:nvSpPr>
        <p:spPr>
          <a:xfrm>
            <a:off x="457200" y="1097280"/>
            <a:ext cx="2606040" cy="1261872"/>
          </a:xfrm>
          <a:prstGeom prst="roundRect">
            <a:avLst>
              <a:gd name="adj" fmla="val 5797"/>
            </a:avLst>
          </a:prstGeom>
          <a:solidFill>
            <a:schemeClr val="bg2"/>
          </a:solidFill>
          <a:ln w="12700">
            <a:solidFill>
              <a:schemeClr val="bg2"/>
            </a:solidFill>
            <a:prstDash val="solid"/>
          </a:ln>
        </p:spPr>
      </p:sp>
      <p:sp>
        <p:nvSpPr>
          <p:cNvPr id="4" name="badge-115"/>
          <p:cNvSpPr/>
          <p:nvPr/>
        </p:nvSpPr>
        <p:spPr>
          <a:xfrm>
            <a:off x="621792" y="1261872"/>
            <a:ext cx="329184" cy="329184"/>
          </a:xfrm>
          <a:prstGeom prst="ellipse">
            <a:avLst/>
          </a:prstGeom>
          <a:solidFill>
            <a:schemeClr val="accent1"/>
          </a:solidFill>
          <a:ln w="12700">
            <a:solidFill>
              <a:schemeClr val="accent1"/>
            </a:solidFill>
            <a:prstDash val="solid"/>
          </a:ln>
        </p:spPr>
      </p:sp>
      <p:sp>
        <p:nvSpPr>
          <p:cNvPr id="5" name="text-116"/>
          <p:cNvSpPr txBox="1"/>
          <p:nvPr/>
        </p:nvSpPr>
        <p:spPr>
          <a:xfrm>
            <a:off x="621792" y="1261872"/>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117"/>
          <p:cNvSpPr txBox="1"/>
          <p:nvPr/>
        </p:nvSpPr>
        <p:spPr>
          <a:xfrm>
            <a:off x="1060704" y="1243584"/>
            <a:ext cx="1920240" cy="365760"/>
          </a:xfrm>
          <a:prstGeom prst="rect">
            <a:avLst/>
          </a:prstGeom>
          <a:noFill/>
          <a:ln/>
        </p:spPr>
        <p:txBody>
          <a:bodyPr wrap="square" lIns="0" tIns="0" rIns="0" bIns="0" rtlCol="0" anchor="ctr"/>
          <a:lstStyle/>
          <a:p>
            <a:pPr algn="l" indent="0" marL="0">
              <a:buNone/>
            </a:pPr>
            <a:r>
              <a:rPr lang="en-US" sz="1500" b="1" dirty="0">
                <a:solidFill>
                  <a:schemeClr val="tx2"/>
                </a:solidFill>
              </a:rPr>
              <a:t>One source of truth</a:t>
            </a:r>
            <a:endParaRPr lang="en-US" sz="1500" dirty="0"/>
          </a:p>
        </p:txBody>
      </p:sp>
      <p:sp>
        <p:nvSpPr>
          <p:cNvPr id="7" name="text-118"/>
          <p:cNvSpPr txBox="1"/>
          <p:nvPr/>
        </p:nvSpPr>
        <p:spPr>
          <a:xfrm>
            <a:off x="621792" y="1700784"/>
            <a:ext cx="2331720" cy="621792"/>
          </a:xfrm>
          <a:prstGeom prst="rect">
            <a:avLst/>
          </a:prstGeom>
          <a:noFill/>
          <a:ln/>
        </p:spPr>
        <p:txBody>
          <a:bodyPr wrap="square" lIns="0" tIns="0" rIns="0" bIns="0" rtlCol="0" anchor="t"/>
          <a:lstStyle/>
          <a:p>
            <a:pPr algn="l" indent="0" marL="0">
              <a:buNone/>
            </a:pPr>
            <a:r>
              <a:rPr lang="en-US" sz="1250" dirty="0">
                <a:solidFill>
                  <a:schemeClr val="tx1"/>
                </a:solidFill>
              </a:rPr>
              <a:t>main on .126 is always the latest version; no more folder copies.</a:t>
            </a:r>
            <a:endParaRPr lang="en-US" sz="1250" dirty="0"/>
          </a:p>
        </p:txBody>
      </p:sp>
      <p:sp>
        <p:nvSpPr>
          <p:cNvPr id="8" name="adv-card-119"/>
          <p:cNvSpPr/>
          <p:nvPr/>
        </p:nvSpPr>
        <p:spPr>
          <a:xfrm>
            <a:off x="3246120" y="1097280"/>
            <a:ext cx="2606040" cy="1261872"/>
          </a:xfrm>
          <a:prstGeom prst="roundRect">
            <a:avLst>
              <a:gd name="adj" fmla="val 5797"/>
            </a:avLst>
          </a:prstGeom>
          <a:solidFill>
            <a:schemeClr val="bg2"/>
          </a:solidFill>
          <a:ln w="12700">
            <a:solidFill>
              <a:schemeClr val="bg2"/>
            </a:solidFill>
            <a:prstDash val="solid"/>
          </a:ln>
        </p:spPr>
      </p:sp>
      <p:sp>
        <p:nvSpPr>
          <p:cNvPr id="9" name="badge-120"/>
          <p:cNvSpPr/>
          <p:nvPr/>
        </p:nvSpPr>
        <p:spPr>
          <a:xfrm>
            <a:off x="3410712" y="1261872"/>
            <a:ext cx="329184" cy="329184"/>
          </a:xfrm>
          <a:prstGeom prst="ellipse">
            <a:avLst/>
          </a:prstGeom>
          <a:solidFill>
            <a:schemeClr val="accent1"/>
          </a:solidFill>
          <a:ln w="12700">
            <a:solidFill>
              <a:schemeClr val="accent1"/>
            </a:solidFill>
            <a:prstDash val="solid"/>
          </a:ln>
        </p:spPr>
      </p:sp>
      <p:sp>
        <p:nvSpPr>
          <p:cNvPr id="10" name="text-121"/>
          <p:cNvSpPr txBox="1"/>
          <p:nvPr/>
        </p:nvSpPr>
        <p:spPr>
          <a:xfrm>
            <a:off x="3410712" y="1261872"/>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122"/>
          <p:cNvSpPr txBox="1"/>
          <p:nvPr/>
        </p:nvSpPr>
        <p:spPr>
          <a:xfrm>
            <a:off x="3849624" y="1243584"/>
            <a:ext cx="1920240" cy="365760"/>
          </a:xfrm>
          <a:prstGeom prst="rect">
            <a:avLst/>
          </a:prstGeom>
          <a:noFill/>
          <a:ln/>
        </p:spPr>
        <p:txBody>
          <a:bodyPr wrap="square" lIns="0" tIns="0" rIns="0" bIns="0" rtlCol="0" anchor="ctr"/>
          <a:lstStyle/>
          <a:p>
            <a:pPr algn="l" indent="0" marL="0">
              <a:buNone/>
            </a:pPr>
            <a:r>
              <a:rPr lang="en-US" sz="1500" b="1" dirty="0">
                <a:solidFill>
                  <a:schemeClr val="tx2"/>
                </a:solidFill>
              </a:rPr>
              <a:t>Full traceability</a:t>
            </a:r>
            <a:endParaRPr lang="en-US" sz="1500" dirty="0"/>
          </a:p>
        </p:txBody>
      </p:sp>
      <p:sp>
        <p:nvSpPr>
          <p:cNvPr id="12" name="text-123"/>
          <p:cNvSpPr txBox="1"/>
          <p:nvPr/>
        </p:nvSpPr>
        <p:spPr>
          <a:xfrm>
            <a:off x="3410712" y="1700784"/>
            <a:ext cx="2331720" cy="621792"/>
          </a:xfrm>
          <a:prstGeom prst="rect">
            <a:avLst/>
          </a:prstGeom>
          <a:noFill/>
          <a:ln/>
        </p:spPr>
        <p:txBody>
          <a:bodyPr wrap="square" lIns="0" tIns="0" rIns="0" bIns="0" rtlCol="0" anchor="t"/>
          <a:lstStyle/>
          <a:p>
            <a:pPr algn="l" indent="0" marL="0">
              <a:buNone/>
            </a:pPr>
            <a:r>
              <a:rPr lang="en-US" sz="1250" dirty="0">
                <a:solidFill>
                  <a:schemeClr val="tx1"/>
                </a:solidFill>
              </a:rPr>
              <a:t>Every change has author, time, message and exact line diff.</a:t>
            </a:r>
            <a:endParaRPr lang="en-US" sz="1250" dirty="0"/>
          </a:p>
        </p:txBody>
      </p:sp>
      <p:sp>
        <p:nvSpPr>
          <p:cNvPr id="13" name="adv-card-124"/>
          <p:cNvSpPr/>
          <p:nvPr/>
        </p:nvSpPr>
        <p:spPr>
          <a:xfrm>
            <a:off x="6035040" y="1097280"/>
            <a:ext cx="2606040" cy="1261872"/>
          </a:xfrm>
          <a:prstGeom prst="roundRect">
            <a:avLst>
              <a:gd name="adj" fmla="val 5797"/>
            </a:avLst>
          </a:prstGeom>
          <a:solidFill>
            <a:schemeClr val="bg2"/>
          </a:solidFill>
          <a:ln w="12700">
            <a:solidFill>
              <a:schemeClr val="bg2"/>
            </a:solidFill>
            <a:prstDash val="solid"/>
          </a:ln>
        </p:spPr>
      </p:sp>
      <p:sp>
        <p:nvSpPr>
          <p:cNvPr id="14" name="badge-125"/>
          <p:cNvSpPr/>
          <p:nvPr/>
        </p:nvSpPr>
        <p:spPr>
          <a:xfrm>
            <a:off x="6199632" y="1261872"/>
            <a:ext cx="329184" cy="329184"/>
          </a:xfrm>
          <a:prstGeom prst="ellipse">
            <a:avLst/>
          </a:prstGeom>
          <a:solidFill>
            <a:schemeClr val="accent1"/>
          </a:solidFill>
          <a:ln w="12700">
            <a:solidFill>
              <a:schemeClr val="accent1"/>
            </a:solidFill>
            <a:prstDash val="solid"/>
          </a:ln>
        </p:spPr>
      </p:sp>
      <p:sp>
        <p:nvSpPr>
          <p:cNvPr id="15" name="text-126"/>
          <p:cNvSpPr txBox="1"/>
          <p:nvPr/>
        </p:nvSpPr>
        <p:spPr>
          <a:xfrm>
            <a:off x="6199632" y="1261872"/>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127"/>
          <p:cNvSpPr txBox="1"/>
          <p:nvPr/>
        </p:nvSpPr>
        <p:spPr>
          <a:xfrm>
            <a:off x="6638544" y="1243584"/>
            <a:ext cx="1920240" cy="365760"/>
          </a:xfrm>
          <a:prstGeom prst="rect">
            <a:avLst/>
          </a:prstGeom>
          <a:noFill/>
          <a:ln/>
        </p:spPr>
        <p:txBody>
          <a:bodyPr wrap="square" lIns="0" tIns="0" rIns="0" bIns="0" rtlCol="0" anchor="ctr"/>
          <a:lstStyle/>
          <a:p>
            <a:pPr algn="l" indent="0" marL="0">
              <a:buNone/>
            </a:pPr>
            <a:r>
              <a:rPr lang="en-US" sz="1500" b="1" dirty="0">
                <a:solidFill>
                  <a:schemeClr val="tx2"/>
                </a:solidFill>
              </a:rPr>
              <a:t>Find changes fast</a:t>
            </a:r>
            <a:endParaRPr lang="en-US" sz="1500" dirty="0"/>
          </a:p>
        </p:txBody>
      </p:sp>
      <p:sp>
        <p:nvSpPr>
          <p:cNvPr id="17" name="text-128"/>
          <p:cNvSpPr txBox="1"/>
          <p:nvPr/>
        </p:nvSpPr>
        <p:spPr>
          <a:xfrm>
            <a:off x="6199632" y="1700784"/>
            <a:ext cx="2331720" cy="621792"/>
          </a:xfrm>
          <a:prstGeom prst="rect">
            <a:avLst/>
          </a:prstGeom>
          <a:noFill/>
          <a:ln/>
        </p:spPr>
        <p:txBody>
          <a:bodyPr wrap="square" lIns="0" tIns="0" rIns="0" bIns="0" rtlCol="0" anchor="t"/>
          <a:lstStyle/>
          <a:p>
            <a:pPr algn="l" indent="0" marL="0">
              <a:buNone/>
            </a:pPr>
            <a:r>
              <a:rPr lang="en-US" sz="1250" dirty="0">
                <a:solidFill>
                  <a:schemeClr val="tx1"/>
                </a:solidFill>
              </a:rPr>
              <a:t>History and comparisons in the browser in seconds, not hours.</a:t>
            </a:r>
            <a:endParaRPr lang="en-US" sz="1250" dirty="0"/>
          </a:p>
        </p:txBody>
      </p:sp>
      <p:sp>
        <p:nvSpPr>
          <p:cNvPr id="18" name="adv-card-129"/>
          <p:cNvSpPr/>
          <p:nvPr/>
        </p:nvSpPr>
        <p:spPr>
          <a:xfrm>
            <a:off x="457200" y="2514600"/>
            <a:ext cx="2606040" cy="1261872"/>
          </a:xfrm>
          <a:prstGeom prst="roundRect">
            <a:avLst>
              <a:gd name="adj" fmla="val 5797"/>
            </a:avLst>
          </a:prstGeom>
          <a:solidFill>
            <a:schemeClr val="bg2"/>
          </a:solidFill>
          <a:ln w="12700">
            <a:solidFill>
              <a:schemeClr val="bg2"/>
            </a:solidFill>
            <a:prstDash val="solid"/>
          </a:ln>
        </p:spPr>
      </p:sp>
      <p:sp>
        <p:nvSpPr>
          <p:cNvPr id="19" name="badge-130"/>
          <p:cNvSpPr/>
          <p:nvPr/>
        </p:nvSpPr>
        <p:spPr>
          <a:xfrm>
            <a:off x="621792" y="2679192"/>
            <a:ext cx="329184" cy="329184"/>
          </a:xfrm>
          <a:prstGeom prst="ellipse">
            <a:avLst/>
          </a:prstGeom>
          <a:solidFill>
            <a:schemeClr val="accent1"/>
          </a:solidFill>
          <a:ln w="12700">
            <a:solidFill>
              <a:schemeClr val="accent1"/>
            </a:solidFill>
            <a:prstDash val="solid"/>
          </a:ln>
        </p:spPr>
      </p:sp>
      <p:sp>
        <p:nvSpPr>
          <p:cNvPr id="20" name="text-131"/>
          <p:cNvSpPr txBox="1"/>
          <p:nvPr/>
        </p:nvSpPr>
        <p:spPr>
          <a:xfrm>
            <a:off x="621792" y="2679192"/>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132"/>
          <p:cNvSpPr txBox="1"/>
          <p:nvPr/>
        </p:nvSpPr>
        <p:spPr>
          <a:xfrm>
            <a:off x="1060704" y="2660904"/>
            <a:ext cx="1920240" cy="365760"/>
          </a:xfrm>
          <a:prstGeom prst="rect">
            <a:avLst/>
          </a:prstGeom>
          <a:noFill/>
          <a:ln/>
        </p:spPr>
        <p:txBody>
          <a:bodyPr wrap="square" lIns="0" tIns="0" rIns="0" bIns="0" rtlCol="0" anchor="ctr"/>
          <a:lstStyle/>
          <a:p>
            <a:pPr algn="l" indent="0" marL="0">
              <a:buNone/>
            </a:pPr>
            <a:r>
              <a:rPr lang="en-US" sz="1500" b="1" dirty="0">
                <a:solidFill>
                  <a:schemeClr val="tx2"/>
                </a:solidFill>
              </a:rPr>
              <a:t>Safe teamwork</a:t>
            </a:r>
            <a:endParaRPr lang="en-US" sz="1500" dirty="0"/>
          </a:p>
        </p:txBody>
      </p:sp>
      <p:sp>
        <p:nvSpPr>
          <p:cNvPr id="22" name="text-133"/>
          <p:cNvSpPr txBox="1"/>
          <p:nvPr/>
        </p:nvSpPr>
        <p:spPr>
          <a:xfrm>
            <a:off x="621792" y="3118104"/>
            <a:ext cx="2331720" cy="621792"/>
          </a:xfrm>
          <a:prstGeom prst="rect">
            <a:avLst/>
          </a:prstGeom>
          <a:noFill/>
          <a:ln/>
        </p:spPr>
        <p:txBody>
          <a:bodyPr wrap="square" lIns="0" tIns="0" rIns="0" bIns="0" rtlCol="0" anchor="t"/>
          <a:lstStyle/>
          <a:p>
            <a:pPr algn="l" indent="0" marL="0">
              <a:buNone/>
            </a:pPr>
            <a:r>
              <a:rPr lang="en-US" sz="1250" dirty="0">
                <a:solidFill>
                  <a:schemeClr val="tx1"/>
                </a:solidFill>
              </a:rPr>
              <a:t>Git merges work instead of overwriting; main cannot be deleted or rewritten.</a:t>
            </a:r>
            <a:endParaRPr lang="en-US" sz="1250" dirty="0"/>
          </a:p>
        </p:txBody>
      </p:sp>
      <p:sp>
        <p:nvSpPr>
          <p:cNvPr id="23" name="adv-card-134"/>
          <p:cNvSpPr/>
          <p:nvPr/>
        </p:nvSpPr>
        <p:spPr>
          <a:xfrm>
            <a:off x="3246120" y="2514600"/>
            <a:ext cx="2606040" cy="1261872"/>
          </a:xfrm>
          <a:prstGeom prst="roundRect">
            <a:avLst>
              <a:gd name="adj" fmla="val 5797"/>
            </a:avLst>
          </a:prstGeom>
          <a:solidFill>
            <a:schemeClr val="bg2"/>
          </a:solidFill>
          <a:ln w="12700">
            <a:solidFill>
              <a:schemeClr val="bg2"/>
            </a:solidFill>
            <a:prstDash val="solid"/>
          </a:ln>
        </p:spPr>
      </p:sp>
      <p:sp>
        <p:nvSpPr>
          <p:cNvPr id="24" name="badge-135"/>
          <p:cNvSpPr/>
          <p:nvPr/>
        </p:nvSpPr>
        <p:spPr>
          <a:xfrm>
            <a:off x="3410712" y="2679192"/>
            <a:ext cx="329184" cy="329184"/>
          </a:xfrm>
          <a:prstGeom prst="ellipse">
            <a:avLst/>
          </a:prstGeom>
          <a:solidFill>
            <a:schemeClr val="accent1"/>
          </a:solidFill>
          <a:ln w="12700">
            <a:solidFill>
              <a:schemeClr val="accent1"/>
            </a:solidFill>
            <a:prstDash val="solid"/>
          </a:ln>
        </p:spPr>
      </p:sp>
      <p:sp>
        <p:nvSpPr>
          <p:cNvPr id="25" name="text-136"/>
          <p:cNvSpPr txBox="1"/>
          <p:nvPr/>
        </p:nvSpPr>
        <p:spPr>
          <a:xfrm>
            <a:off x="3410712" y="2679192"/>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137"/>
          <p:cNvSpPr txBox="1"/>
          <p:nvPr/>
        </p:nvSpPr>
        <p:spPr>
          <a:xfrm>
            <a:off x="3849624" y="2660904"/>
            <a:ext cx="1920240" cy="365760"/>
          </a:xfrm>
          <a:prstGeom prst="rect">
            <a:avLst/>
          </a:prstGeom>
          <a:noFill/>
          <a:ln/>
        </p:spPr>
        <p:txBody>
          <a:bodyPr wrap="square" lIns="0" tIns="0" rIns="0" bIns="0" rtlCol="0" anchor="ctr"/>
          <a:lstStyle/>
          <a:p>
            <a:pPr algn="l" indent="0" marL="0">
              <a:buNone/>
            </a:pPr>
            <a:r>
              <a:rPr lang="en-US" sz="1500" b="1" dirty="0">
                <a:solidFill>
                  <a:schemeClr val="tx2"/>
                </a:solidFill>
              </a:rPr>
              <a:t>Access control</a:t>
            </a:r>
            <a:endParaRPr lang="en-US" sz="1500" dirty="0"/>
          </a:p>
        </p:txBody>
      </p:sp>
      <p:sp>
        <p:nvSpPr>
          <p:cNvPr id="27" name="text-138"/>
          <p:cNvSpPr txBox="1"/>
          <p:nvPr/>
        </p:nvSpPr>
        <p:spPr>
          <a:xfrm>
            <a:off x="3410712" y="3118104"/>
            <a:ext cx="2331720" cy="621792"/>
          </a:xfrm>
          <a:prstGeom prst="rect">
            <a:avLst/>
          </a:prstGeom>
          <a:noFill/>
          <a:ln/>
        </p:spPr>
        <p:txBody>
          <a:bodyPr wrap="square" lIns="0" tIns="0" rIns="0" bIns="0" rtlCol="0" anchor="t"/>
          <a:lstStyle/>
          <a:p>
            <a:pPr algn="l" indent="0" marL="0">
              <a:buNone/>
            </a:pPr>
            <a:r>
              <a:rPr lang="en-US" sz="1250" dirty="0">
                <a:solidFill>
                  <a:schemeClr val="tx1"/>
                </a:solidFill>
              </a:rPr>
              <a:t>Per user and per repository: Read or Read &amp; write.</a:t>
            </a:r>
            <a:endParaRPr lang="en-US" sz="1250" dirty="0"/>
          </a:p>
        </p:txBody>
      </p:sp>
      <p:sp>
        <p:nvSpPr>
          <p:cNvPr id="28" name="adv-card-139"/>
          <p:cNvSpPr/>
          <p:nvPr/>
        </p:nvSpPr>
        <p:spPr>
          <a:xfrm>
            <a:off x="6035040" y="2514600"/>
            <a:ext cx="2606040" cy="1261872"/>
          </a:xfrm>
          <a:prstGeom prst="roundRect">
            <a:avLst>
              <a:gd name="adj" fmla="val 5797"/>
            </a:avLst>
          </a:prstGeom>
          <a:solidFill>
            <a:schemeClr val="bg2"/>
          </a:solidFill>
          <a:ln w="12700">
            <a:solidFill>
              <a:schemeClr val="bg2"/>
            </a:solidFill>
            <a:prstDash val="solid"/>
          </a:ln>
        </p:spPr>
      </p:sp>
      <p:sp>
        <p:nvSpPr>
          <p:cNvPr id="29" name="badge-140"/>
          <p:cNvSpPr/>
          <p:nvPr/>
        </p:nvSpPr>
        <p:spPr>
          <a:xfrm>
            <a:off x="6199632" y="2679192"/>
            <a:ext cx="329184" cy="329184"/>
          </a:xfrm>
          <a:prstGeom prst="ellipse">
            <a:avLst/>
          </a:prstGeom>
          <a:solidFill>
            <a:schemeClr val="accent1"/>
          </a:solidFill>
          <a:ln w="12700">
            <a:solidFill>
              <a:schemeClr val="accent1"/>
            </a:solidFill>
            <a:prstDash val="solid"/>
          </a:ln>
        </p:spPr>
      </p:sp>
      <p:sp>
        <p:nvSpPr>
          <p:cNvPr id="30" name="text-141"/>
          <p:cNvSpPr txBox="1"/>
          <p:nvPr/>
        </p:nvSpPr>
        <p:spPr>
          <a:xfrm>
            <a:off x="6199632" y="2679192"/>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142"/>
          <p:cNvSpPr txBox="1"/>
          <p:nvPr/>
        </p:nvSpPr>
        <p:spPr>
          <a:xfrm>
            <a:off x="6638544" y="2660904"/>
            <a:ext cx="1920240" cy="365760"/>
          </a:xfrm>
          <a:prstGeom prst="rect">
            <a:avLst/>
          </a:prstGeom>
          <a:noFill/>
          <a:ln/>
        </p:spPr>
        <p:txBody>
          <a:bodyPr wrap="square" lIns="0" tIns="0" rIns="0" bIns="0" rtlCol="0" anchor="ctr"/>
          <a:lstStyle/>
          <a:p>
            <a:pPr algn="l" indent="0" marL="0">
              <a:buNone/>
            </a:pPr>
            <a:r>
              <a:rPr lang="en-US" sz="1500" b="1" dirty="0">
                <a:solidFill>
                  <a:schemeClr val="tx2"/>
                </a:solidFill>
              </a:rPr>
              <a:t>Secure, on-premise</a:t>
            </a:r>
            <a:endParaRPr lang="en-US" sz="1500" dirty="0"/>
          </a:p>
        </p:txBody>
      </p:sp>
      <p:sp>
        <p:nvSpPr>
          <p:cNvPr id="32" name="text-143"/>
          <p:cNvSpPr txBox="1"/>
          <p:nvPr/>
        </p:nvSpPr>
        <p:spPr>
          <a:xfrm>
            <a:off x="6199632" y="3118104"/>
            <a:ext cx="2331720" cy="621792"/>
          </a:xfrm>
          <a:prstGeom prst="rect">
            <a:avLst/>
          </a:prstGeom>
          <a:noFill/>
          <a:ln/>
        </p:spPr>
        <p:txBody>
          <a:bodyPr wrap="square" lIns="0" tIns="0" rIns="0" bIns="0" rtlCol="0" anchor="t"/>
          <a:lstStyle/>
          <a:p>
            <a:pPr algn="l" indent="0" marL="0">
              <a:buNone/>
            </a:pPr>
            <a:r>
              <a:rPr lang="en-US" sz="1250" dirty="0">
                <a:solidFill>
                  <a:schemeClr val="tx1"/>
                </a:solidFill>
              </a:rPr>
              <a:t>SSH keys and HTTPS, no cloud; automatic hidden backup of main.</a:t>
            </a:r>
            <a:endParaRPr lang="en-US" sz="1250" dirty="0"/>
          </a:p>
        </p:txBody>
      </p:sp>
      <p:sp>
        <p:nvSpPr>
          <p:cNvPr id="33" name="efficiency-144"/>
          <p:cNvSpPr/>
          <p:nvPr/>
        </p:nvSpPr>
        <p:spPr>
          <a:xfrm>
            <a:off x="457200" y="4005072"/>
            <a:ext cx="8229600" cy="603504"/>
          </a:xfrm>
          <a:prstGeom prst="roundRect">
            <a:avLst>
              <a:gd name="adj" fmla="val 12121"/>
            </a:avLst>
          </a:prstGeom>
          <a:solidFill>
            <a:schemeClr val="accent1"/>
          </a:solidFill>
          <a:ln w="12700">
            <a:solidFill>
              <a:schemeClr val="accent1"/>
            </a:solidFill>
            <a:prstDash val="solid"/>
          </a:ln>
        </p:spPr>
      </p:sp>
      <p:sp>
        <p:nvSpPr>
          <p:cNvPr id="34" name="text-145"/>
          <p:cNvSpPr txBox="1"/>
          <p:nvPr/>
        </p:nvSpPr>
        <p:spPr>
          <a:xfrm>
            <a:off x="640080" y="4005072"/>
            <a:ext cx="7863840" cy="603504"/>
          </a:xfrm>
          <a:prstGeom prst="rect">
            <a:avLst/>
          </a:prstGeom>
          <a:noFill/>
          <a:ln/>
        </p:spPr>
        <p:txBody>
          <a:bodyPr wrap="square" lIns="0" tIns="0" rIns="0" bIns="0" rtlCol="0" anchor="ctr"/>
          <a:lstStyle/>
          <a:p>
            <a:pPr algn="l" indent="0" marL="0">
              <a:buNone/>
            </a:pPr>
            <a:r>
              <a:rPr lang="en-US" sz="1400" b="1" dirty="0">
                <a:solidFill>
                  <a:schemeClr val="bg1"/>
                </a:solidFill>
              </a:rPr>
              <a:t>Efficiency: </a:t>
            </a:r>
            <a:pPr algn="l" indent="0" marL="0">
              <a:buNone/>
            </a:pPr>
            <a:r>
              <a:rPr lang="en-US" sz="1400" dirty="0">
                <a:solidFill>
                  <a:schemeClr val="bg1"/>
                </a:solidFill>
              </a:rPr>
              <a:t>less time searching and reconciling copies, new members onboarded in minutes, every change recoverable.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PrivateGit Simple">
  <a:themeElements>
    <a:clrScheme name="PrivateGit Simple">
      <a:dk1>
        <a:srgbClr val="1F2933"/>
      </a:dk1>
      <a:lt1>
        <a:srgbClr val="FFFFFF"/>
      </a:lt1>
      <a:dk2>
        <a:srgbClr val="1E5945"/>
      </a:dk2>
      <a:lt2>
        <a:srgbClr val="E8F1EC"/>
      </a:lt2>
      <a:accent1>
        <a:srgbClr val="1E5945"/>
      </a:accent1>
      <a:accent2>
        <a:srgbClr val="D98E04"/>
      </a:accent2>
      <a:accent3>
        <a:srgbClr val="2F6FA5"/>
      </a:accent3>
      <a:accent4>
        <a:srgbClr val="5B6670"/>
      </a:accent4>
      <a:accent5>
        <a:srgbClr val="C9D3CF"/>
      </a:accent5>
      <a:accent6>
        <a:srgbClr val="B23A3A"/>
      </a:accent6>
      <a:hlink>
        <a:srgbClr val="2F6FA5"/>
      </a:hlink>
      <a:folHlink>
        <a:srgbClr val="5B6670"/>
      </a:folHlink>
    </a:clrScheme>
    <a:fontScheme name="PrivateGit Simpl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PrivateGit: on-premise Git for our lab</dc:title>
  <dc:subject>PptxGenJS Presentation</dc:subject>
  <dc:creator>Siddhartha</dc:creator>
  <cp:lastModifiedBy>Siddhartha</cp:lastModifiedBy>
  <cp:revision>1</cp:revision>
  <dcterms:created xsi:type="dcterms:W3CDTF">2026-10-21T06:38:20Z</dcterms:created>
  <dcterms:modified xsi:type="dcterms:W3CDTF">2026-10-21T06:38:20Z</dcterms:modified>
</cp:coreProperties>
</file>